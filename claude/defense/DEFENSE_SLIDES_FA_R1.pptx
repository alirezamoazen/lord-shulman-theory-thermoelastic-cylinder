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6" Type="http://schemas.openxmlformats.org/officeDocument/2006/relationships/viewProps" Target="viewProps.xml" /><Relationship Id="rId3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8" Type="http://schemas.openxmlformats.org/officeDocument/2006/relationships/tableStyles" Target="tableStyles.xml" /><Relationship Id="rId3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  <a:lvl2pPr marL="3429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2pPr>
            <a:lvl3pPr marL="6858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3pPr>
            <a:lvl4pPr marL="10287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4pPr>
            <a:lvl5pPr marL="13716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5pPr>
            <a:lvl6pPr marL="17145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6pPr>
            <a:lvl7pPr marL="20574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7pPr>
            <a:lvl8pPr marL="24003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8pPr>
            <a:lvl9pPr marL="2743200" indent="0" algn="ctr">
              <a:buNone/>
              <a:defRPr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9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  <a:lvl2pPr marL="342900" indent="0">
              <a:buNone/>
              <a:defRPr sz="13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2pPr>
            <a:lvl3pPr marL="685800" indent="0">
              <a:buNone/>
              <a:defRPr sz="12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3pPr>
            <a:lvl4pPr marL="10287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4pPr>
            <a:lvl5pPr marL="13716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5pPr>
            <a:lvl6pPr marL="17145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6pPr>
            <a:lvl7pPr marL="20574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7pPr>
            <a:lvl8pPr marL="24003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8pPr>
            <a:lvl9pPr marL="2743200" indent="0">
              <a:buNone/>
              <a:defRPr sz="105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 lang="fa-IR" dirty="0">
                <a:latin typeface="Tahoma"/>
                <a:cs typeface="Tahoma"/>
              </a:defRPr>
            </a:lvl1pPr>
            <a:lvl2pPr>
              <a:defRPr sz="1800" lang="fa-IR" dirty="0">
                <a:latin typeface="Tahoma"/>
                <a:cs typeface="Tahoma"/>
              </a:defRPr>
            </a:lvl2pPr>
            <a:lvl3pPr>
              <a:defRPr sz="1500" lang="fa-IR" dirty="0">
                <a:latin typeface="Tahoma"/>
                <a:cs typeface="Tahoma"/>
              </a:defRPr>
            </a:lvl3pPr>
            <a:lvl4pPr>
              <a:defRPr sz="1350" lang="fa-IR" dirty="0">
                <a:latin typeface="Tahoma"/>
                <a:cs typeface="Tahoma"/>
              </a:defRPr>
            </a:lvl4pPr>
            <a:lvl5pPr>
              <a:defRPr sz="1350" lang="fa-IR" dirty="0">
                <a:latin typeface="Tahoma"/>
                <a:cs typeface="Tahoma"/>
              </a:defRPr>
            </a:lvl5pPr>
            <a:lvl6pPr>
              <a:defRPr sz="1350" lang="fa-IR" dirty="0">
                <a:latin typeface="Tahoma"/>
                <a:cs typeface="Tahoma"/>
              </a:defRPr>
            </a:lvl6pPr>
            <a:lvl7pPr>
              <a:defRPr sz="1350" lang="fa-IR" dirty="0">
                <a:latin typeface="Tahoma"/>
                <a:cs typeface="Tahoma"/>
              </a:defRPr>
            </a:lvl7pPr>
            <a:lvl8pPr>
              <a:defRPr sz="1350" lang="fa-IR" dirty="0">
                <a:latin typeface="Tahoma"/>
                <a:cs typeface="Tahoma"/>
              </a:defRPr>
            </a:lvl8pPr>
            <a:lvl9pPr>
              <a:defRPr sz="135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 lang="fa-IR" dirty="0">
                <a:latin typeface="Tahoma"/>
                <a:cs typeface="Tahoma"/>
              </a:defRPr>
            </a:lvl1pPr>
            <a:lvl2pPr>
              <a:defRPr sz="1800" lang="fa-IR" dirty="0">
                <a:latin typeface="Tahoma"/>
                <a:cs typeface="Tahoma"/>
              </a:defRPr>
            </a:lvl2pPr>
            <a:lvl3pPr>
              <a:defRPr sz="1500" lang="fa-IR" dirty="0">
                <a:latin typeface="Tahoma"/>
                <a:cs typeface="Tahoma"/>
              </a:defRPr>
            </a:lvl3pPr>
            <a:lvl4pPr>
              <a:defRPr sz="1350" lang="fa-IR" dirty="0">
                <a:latin typeface="Tahoma"/>
                <a:cs typeface="Tahoma"/>
              </a:defRPr>
            </a:lvl4pPr>
            <a:lvl5pPr>
              <a:defRPr sz="1350" lang="fa-IR" dirty="0">
                <a:latin typeface="Tahoma"/>
                <a:cs typeface="Tahoma"/>
              </a:defRPr>
            </a:lvl5pPr>
            <a:lvl6pPr>
              <a:defRPr sz="1350" lang="fa-IR" dirty="0">
                <a:latin typeface="Tahoma"/>
                <a:cs typeface="Tahoma"/>
              </a:defRPr>
            </a:lvl6pPr>
            <a:lvl7pPr>
              <a:defRPr sz="1350" lang="fa-IR" dirty="0">
                <a:latin typeface="Tahoma"/>
                <a:cs typeface="Tahoma"/>
              </a:defRPr>
            </a:lvl7pPr>
            <a:lvl8pPr>
              <a:defRPr sz="1350" lang="fa-IR" dirty="0">
                <a:latin typeface="Tahoma"/>
                <a:cs typeface="Tahoma"/>
              </a:defRPr>
            </a:lvl8pPr>
            <a:lvl9pPr>
              <a:defRPr sz="135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 lang="fa-IR" dirty="0">
                <a:latin typeface="Tahoma"/>
                <a:cs typeface="Tahoma"/>
              </a:defRPr>
            </a:lvl1pPr>
            <a:lvl2pPr marL="342900" indent="0">
              <a:buNone/>
              <a:defRPr sz="1500" b="1" lang="fa-IR" dirty="0">
                <a:latin typeface="Tahoma"/>
                <a:cs typeface="Tahoma"/>
              </a:defRPr>
            </a:lvl2pPr>
            <a:lvl3pPr marL="685800" indent="0">
              <a:buNone/>
              <a:defRPr sz="1350" b="1" lang="fa-IR" dirty="0">
                <a:latin typeface="Tahoma"/>
                <a:cs typeface="Tahoma"/>
              </a:defRPr>
            </a:lvl3pPr>
            <a:lvl4pPr marL="1028700" indent="0">
              <a:buNone/>
              <a:defRPr sz="1200" b="1" lang="fa-IR" dirty="0">
                <a:latin typeface="Tahoma"/>
                <a:cs typeface="Tahoma"/>
              </a:defRPr>
            </a:lvl4pPr>
            <a:lvl5pPr marL="1371600" indent="0">
              <a:buNone/>
              <a:defRPr sz="1200" b="1" lang="fa-IR" dirty="0">
                <a:latin typeface="Tahoma"/>
                <a:cs typeface="Tahoma"/>
              </a:defRPr>
            </a:lvl5pPr>
            <a:lvl6pPr marL="1714500" indent="0">
              <a:buNone/>
              <a:defRPr sz="1200" b="1" lang="fa-IR" dirty="0">
                <a:latin typeface="Tahoma"/>
                <a:cs typeface="Tahoma"/>
              </a:defRPr>
            </a:lvl6pPr>
            <a:lvl7pPr marL="2057400" indent="0">
              <a:buNone/>
              <a:defRPr sz="1200" b="1" lang="fa-IR" dirty="0">
                <a:latin typeface="Tahoma"/>
                <a:cs typeface="Tahoma"/>
              </a:defRPr>
            </a:lvl7pPr>
            <a:lvl8pPr marL="2400300" indent="0">
              <a:buNone/>
              <a:defRPr sz="1200" b="1" lang="fa-IR" dirty="0">
                <a:latin typeface="Tahoma"/>
                <a:cs typeface="Tahoma"/>
              </a:defRPr>
            </a:lvl8pPr>
            <a:lvl9pPr marL="2743200" indent="0">
              <a:buNone/>
              <a:defRPr sz="1200" b="1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 lang="fa-IR" dirty="0">
                <a:latin typeface="Tahoma"/>
                <a:cs typeface="Tahoma"/>
              </a:defRPr>
            </a:lvl1pPr>
            <a:lvl2pPr>
              <a:defRPr sz="1500" lang="fa-IR" dirty="0">
                <a:latin typeface="Tahoma"/>
                <a:cs typeface="Tahoma"/>
              </a:defRPr>
            </a:lvl2pPr>
            <a:lvl3pPr>
              <a:defRPr sz="1350" lang="fa-IR" dirty="0">
                <a:latin typeface="Tahoma"/>
                <a:cs typeface="Tahoma"/>
              </a:defRPr>
            </a:lvl3pPr>
            <a:lvl4pPr>
              <a:defRPr sz="1200" lang="fa-IR" dirty="0">
                <a:latin typeface="Tahoma"/>
                <a:cs typeface="Tahoma"/>
              </a:defRPr>
            </a:lvl4pPr>
            <a:lvl5pPr>
              <a:defRPr sz="1200" lang="fa-IR" dirty="0">
                <a:latin typeface="Tahoma"/>
                <a:cs typeface="Tahoma"/>
              </a:defRPr>
            </a:lvl5pPr>
            <a:lvl6pPr>
              <a:defRPr sz="1200" lang="fa-IR" dirty="0">
                <a:latin typeface="Tahoma"/>
                <a:cs typeface="Tahoma"/>
              </a:defRPr>
            </a:lvl6pPr>
            <a:lvl7pPr>
              <a:defRPr sz="1200" lang="fa-IR" dirty="0">
                <a:latin typeface="Tahoma"/>
                <a:cs typeface="Tahoma"/>
              </a:defRPr>
            </a:lvl7pPr>
            <a:lvl8pPr>
              <a:defRPr sz="1200" lang="fa-IR" dirty="0">
                <a:latin typeface="Tahoma"/>
                <a:cs typeface="Tahoma"/>
              </a:defRPr>
            </a:lvl8pPr>
            <a:lvl9pPr>
              <a:defRPr sz="120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 lang="fa-IR" dirty="0">
                <a:latin typeface="Tahoma"/>
                <a:cs typeface="Tahoma"/>
              </a:defRPr>
            </a:lvl1pPr>
            <a:lvl2pPr marL="342900" indent="0">
              <a:buNone/>
              <a:defRPr sz="1500" b="1" lang="fa-IR" dirty="0">
                <a:latin typeface="Tahoma"/>
                <a:cs typeface="Tahoma"/>
              </a:defRPr>
            </a:lvl2pPr>
            <a:lvl3pPr marL="685800" indent="0">
              <a:buNone/>
              <a:defRPr sz="1350" b="1" lang="fa-IR" dirty="0">
                <a:latin typeface="Tahoma"/>
                <a:cs typeface="Tahoma"/>
              </a:defRPr>
            </a:lvl3pPr>
            <a:lvl4pPr marL="1028700" indent="0">
              <a:buNone/>
              <a:defRPr sz="1200" b="1" lang="fa-IR" dirty="0">
                <a:latin typeface="Tahoma"/>
                <a:cs typeface="Tahoma"/>
              </a:defRPr>
            </a:lvl4pPr>
            <a:lvl5pPr marL="1371600" indent="0">
              <a:buNone/>
              <a:defRPr sz="1200" b="1" lang="fa-IR" dirty="0">
                <a:latin typeface="Tahoma"/>
                <a:cs typeface="Tahoma"/>
              </a:defRPr>
            </a:lvl5pPr>
            <a:lvl6pPr marL="1714500" indent="0">
              <a:buNone/>
              <a:defRPr sz="1200" b="1" lang="fa-IR" dirty="0">
                <a:latin typeface="Tahoma"/>
                <a:cs typeface="Tahoma"/>
              </a:defRPr>
            </a:lvl6pPr>
            <a:lvl7pPr marL="2057400" indent="0">
              <a:buNone/>
              <a:defRPr sz="1200" b="1" lang="fa-IR" dirty="0">
                <a:latin typeface="Tahoma"/>
                <a:cs typeface="Tahoma"/>
              </a:defRPr>
            </a:lvl7pPr>
            <a:lvl8pPr marL="2400300" indent="0">
              <a:buNone/>
              <a:defRPr sz="1200" b="1" lang="fa-IR" dirty="0">
                <a:latin typeface="Tahoma"/>
                <a:cs typeface="Tahoma"/>
              </a:defRPr>
            </a:lvl8pPr>
            <a:lvl9pPr marL="2743200" indent="0">
              <a:buNone/>
              <a:defRPr sz="1200" b="1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 lang="fa-IR" dirty="0">
                <a:latin typeface="Tahoma"/>
                <a:cs typeface="Tahoma"/>
              </a:defRPr>
            </a:lvl1pPr>
            <a:lvl2pPr>
              <a:defRPr sz="1500" lang="fa-IR" dirty="0">
                <a:latin typeface="Tahoma"/>
                <a:cs typeface="Tahoma"/>
              </a:defRPr>
            </a:lvl2pPr>
            <a:lvl3pPr>
              <a:defRPr sz="1350" lang="fa-IR" dirty="0">
                <a:latin typeface="Tahoma"/>
                <a:cs typeface="Tahoma"/>
              </a:defRPr>
            </a:lvl3pPr>
            <a:lvl4pPr>
              <a:defRPr sz="1200" lang="fa-IR" dirty="0">
                <a:latin typeface="Tahoma"/>
                <a:cs typeface="Tahoma"/>
              </a:defRPr>
            </a:lvl4pPr>
            <a:lvl5pPr>
              <a:defRPr sz="1200" lang="fa-IR" dirty="0">
                <a:latin typeface="Tahoma"/>
                <a:cs typeface="Tahoma"/>
              </a:defRPr>
            </a:lvl5pPr>
            <a:lvl6pPr>
              <a:defRPr sz="1200" lang="fa-IR" dirty="0">
                <a:latin typeface="Tahoma"/>
                <a:cs typeface="Tahoma"/>
              </a:defRPr>
            </a:lvl6pPr>
            <a:lvl7pPr>
              <a:defRPr sz="1200" lang="fa-IR" dirty="0">
                <a:latin typeface="Tahoma"/>
                <a:cs typeface="Tahoma"/>
              </a:defRPr>
            </a:lvl7pPr>
            <a:lvl8pPr>
              <a:defRPr sz="1200" lang="fa-IR" dirty="0">
                <a:latin typeface="Tahoma"/>
                <a:cs typeface="Tahoma"/>
              </a:defRPr>
            </a:lvl8pPr>
            <a:lvl9pPr>
              <a:defRPr sz="120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 lang="fa-IR" dirty="0">
                <a:latin typeface="Tahoma"/>
                <a:cs typeface="Tahoma"/>
              </a:defRPr>
            </a:lvl1pPr>
            <a:lvl2pPr>
              <a:defRPr sz="2100" lang="fa-IR" dirty="0">
                <a:latin typeface="Tahoma"/>
                <a:cs typeface="Tahoma"/>
              </a:defRPr>
            </a:lvl2pPr>
            <a:lvl3pPr>
              <a:defRPr sz="1800" lang="fa-IR" dirty="0">
                <a:latin typeface="Tahoma"/>
                <a:cs typeface="Tahoma"/>
              </a:defRPr>
            </a:lvl3pPr>
            <a:lvl4pPr>
              <a:defRPr sz="1500" lang="fa-IR" dirty="0">
                <a:latin typeface="Tahoma"/>
                <a:cs typeface="Tahoma"/>
              </a:defRPr>
            </a:lvl4pPr>
            <a:lvl5pPr>
              <a:defRPr sz="1500" lang="fa-IR" dirty="0">
                <a:latin typeface="Tahoma"/>
                <a:cs typeface="Tahoma"/>
              </a:defRPr>
            </a:lvl5pPr>
            <a:lvl6pPr>
              <a:defRPr sz="1500" lang="fa-IR" dirty="0">
                <a:latin typeface="Tahoma"/>
                <a:cs typeface="Tahoma"/>
              </a:defRPr>
            </a:lvl6pPr>
            <a:lvl7pPr>
              <a:defRPr sz="1500" lang="fa-IR" dirty="0">
                <a:latin typeface="Tahoma"/>
                <a:cs typeface="Tahoma"/>
              </a:defRPr>
            </a:lvl7pPr>
            <a:lvl8pPr>
              <a:defRPr sz="1500" lang="fa-IR" dirty="0">
                <a:latin typeface="Tahoma"/>
                <a:cs typeface="Tahoma"/>
              </a:defRPr>
            </a:lvl8pPr>
            <a:lvl9pPr>
              <a:defRPr sz="1500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 lang="fa-IR" dirty="0">
                <a:latin typeface="Tahoma"/>
                <a:cs typeface="Tahoma"/>
              </a:defRPr>
            </a:lvl1pPr>
            <a:lvl2pPr marL="342900" indent="0">
              <a:buNone/>
              <a:defRPr sz="900" lang="fa-IR" dirty="0">
                <a:latin typeface="Tahoma"/>
                <a:cs typeface="Tahoma"/>
              </a:defRPr>
            </a:lvl2pPr>
            <a:lvl3pPr marL="685800" indent="0">
              <a:buNone/>
              <a:defRPr sz="750" lang="fa-IR" dirty="0">
                <a:latin typeface="Tahoma"/>
                <a:cs typeface="Tahoma"/>
              </a:defRPr>
            </a:lvl3pPr>
            <a:lvl4pPr marL="1028700" indent="0">
              <a:buNone/>
              <a:defRPr sz="675" lang="fa-IR" dirty="0">
                <a:latin typeface="Tahoma"/>
                <a:cs typeface="Tahoma"/>
              </a:defRPr>
            </a:lvl4pPr>
            <a:lvl5pPr marL="1371600" indent="0">
              <a:buNone/>
              <a:defRPr sz="675" lang="fa-IR" dirty="0">
                <a:latin typeface="Tahoma"/>
                <a:cs typeface="Tahoma"/>
              </a:defRPr>
            </a:lvl5pPr>
            <a:lvl6pPr marL="1714500" indent="0">
              <a:buNone/>
              <a:defRPr sz="675" lang="fa-IR" dirty="0">
                <a:latin typeface="Tahoma"/>
                <a:cs typeface="Tahoma"/>
              </a:defRPr>
            </a:lvl6pPr>
            <a:lvl7pPr marL="2057400" indent="0">
              <a:buNone/>
              <a:defRPr sz="675" lang="fa-IR" dirty="0">
                <a:latin typeface="Tahoma"/>
                <a:cs typeface="Tahoma"/>
              </a:defRPr>
            </a:lvl7pPr>
            <a:lvl8pPr marL="2400300" indent="0">
              <a:buNone/>
              <a:defRPr sz="675" lang="fa-IR" dirty="0">
                <a:latin typeface="Tahoma"/>
                <a:cs typeface="Tahoma"/>
              </a:defRPr>
            </a:lvl8pPr>
            <a:lvl9pPr marL="2743200" indent="0">
              <a:buNone/>
              <a:defRPr sz="675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 lang="fa-IR" dirty="0">
                <a:latin typeface="Tahoma"/>
                <a:cs typeface="Tahoma"/>
              </a:defRPr>
            </a:lvl1pPr>
          </a:lstStyle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 lang="fa-IR" dirty="0">
                <a:latin typeface="Tahoma"/>
                <a:cs typeface="Tahoma"/>
              </a:defRPr>
            </a:lvl1pPr>
            <a:lvl2pPr marL="342900" indent="0">
              <a:buNone/>
              <a:defRPr sz="2100" lang="fa-IR" dirty="0">
                <a:latin typeface="Tahoma"/>
                <a:cs typeface="Tahoma"/>
              </a:defRPr>
            </a:lvl2pPr>
            <a:lvl3pPr marL="685800" indent="0">
              <a:buNone/>
              <a:defRPr sz="1800" lang="fa-IR" dirty="0">
                <a:latin typeface="Tahoma"/>
                <a:cs typeface="Tahoma"/>
              </a:defRPr>
            </a:lvl3pPr>
            <a:lvl4pPr marL="1028700" indent="0">
              <a:buNone/>
              <a:defRPr sz="1500" lang="fa-IR" dirty="0">
                <a:latin typeface="Tahoma"/>
                <a:cs typeface="Tahoma"/>
              </a:defRPr>
            </a:lvl4pPr>
            <a:lvl5pPr marL="1371600" indent="0">
              <a:buNone/>
              <a:defRPr sz="1500" lang="fa-IR" dirty="0">
                <a:latin typeface="Tahoma"/>
                <a:cs typeface="Tahoma"/>
              </a:defRPr>
            </a:lvl5pPr>
            <a:lvl6pPr marL="1714500" indent="0">
              <a:buNone/>
              <a:defRPr sz="1500" lang="fa-IR" dirty="0">
                <a:latin typeface="Tahoma"/>
                <a:cs typeface="Tahoma"/>
              </a:defRPr>
            </a:lvl6pPr>
            <a:lvl7pPr marL="2057400" indent="0">
              <a:buNone/>
              <a:defRPr sz="1500" lang="fa-IR" dirty="0">
                <a:latin typeface="Tahoma"/>
                <a:cs typeface="Tahoma"/>
              </a:defRPr>
            </a:lvl7pPr>
            <a:lvl8pPr marL="2400300" indent="0">
              <a:buNone/>
              <a:defRPr sz="1500" lang="fa-IR" dirty="0">
                <a:latin typeface="Tahoma"/>
                <a:cs typeface="Tahoma"/>
              </a:defRPr>
            </a:lvl8pPr>
            <a:lvl9pPr marL="2743200" indent="0">
              <a:buNone/>
              <a:defRPr sz="1500" lang="fa-IR" dirty="0">
                <a:latin typeface="Tahoma"/>
                <a:cs typeface="Tahoma"/>
              </a:defRPr>
            </a:lvl9pPr>
          </a:lstStyle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 lang="fa-IR" dirty="0">
                <a:latin typeface="Tahoma"/>
                <a:cs typeface="Tahoma"/>
              </a:defRPr>
            </a:lvl1pPr>
            <a:lvl2pPr marL="342900" indent="0">
              <a:buNone/>
              <a:defRPr sz="900" lang="fa-IR" dirty="0">
                <a:latin typeface="Tahoma"/>
                <a:cs typeface="Tahoma"/>
              </a:defRPr>
            </a:lvl2pPr>
            <a:lvl3pPr marL="685800" indent="0">
              <a:buNone/>
              <a:defRPr sz="750" lang="fa-IR" dirty="0">
                <a:latin typeface="Tahoma"/>
                <a:cs typeface="Tahoma"/>
              </a:defRPr>
            </a:lvl3pPr>
            <a:lvl4pPr marL="1028700" indent="0">
              <a:buNone/>
              <a:defRPr sz="675" lang="fa-IR" dirty="0">
                <a:latin typeface="Tahoma"/>
                <a:cs typeface="Tahoma"/>
              </a:defRPr>
            </a:lvl4pPr>
            <a:lvl5pPr marL="1371600" indent="0">
              <a:buNone/>
              <a:defRPr sz="675" lang="fa-IR" dirty="0">
                <a:latin typeface="Tahoma"/>
                <a:cs typeface="Tahoma"/>
              </a:defRPr>
            </a:lvl5pPr>
            <a:lvl6pPr marL="1714500" indent="0">
              <a:buNone/>
              <a:defRPr sz="675" lang="fa-IR" dirty="0">
                <a:latin typeface="Tahoma"/>
                <a:cs typeface="Tahoma"/>
              </a:defRPr>
            </a:lvl6pPr>
            <a:lvl7pPr marL="2057400" indent="0">
              <a:buNone/>
              <a:defRPr sz="675" lang="fa-IR" dirty="0">
                <a:latin typeface="Tahoma"/>
                <a:cs typeface="Tahoma"/>
              </a:defRPr>
            </a:lvl7pPr>
            <a:lvl8pPr marL="2400300" indent="0">
              <a:buNone/>
              <a:defRPr sz="675" lang="fa-IR" dirty="0">
                <a:latin typeface="Tahoma"/>
                <a:cs typeface="Tahoma"/>
              </a:defRPr>
            </a:lvl8pPr>
            <a:lvl9pPr marL="2743200" indent="0">
              <a:buNone/>
              <a:defRPr sz="675" lang="fa-IR" dirty="0">
                <a:latin typeface="Tahoma"/>
                <a:cs typeface="Tahoma"/>
              </a:defRPr>
            </a:lvl9pPr>
          </a:lstStyle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rtl="1" algn="r"/>
            <a:r>
              <a:rPr lang="fa-IR" dirty="0">
                <a:latin typeface="Tahoma"/>
                <a:cs typeface="Tahoma"/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Click to edit Master text styles</a:t>
            </a:r>
          </a:p>
          <a:p>
            <a:pPr lvl="1" rtl="1" algn="r"/>
            <a:r>
              <a:rPr lang="fa-IR" dirty="0">
                <a:latin typeface="Tahoma"/>
                <a:cs typeface="Tahoma"/>
              </a:rPr>
              <a:t>Second level</a:t>
            </a:r>
          </a:p>
          <a:p>
            <a:pPr lvl="2" rtl="1" algn="r"/>
            <a:r>
              <a:rPr lang="fa-IR" dirty="0">
                <a:latin typeface="Tahoma"/>
                <a:cs typeface="Tahoma"/>
              </a:rPr>
              <a:t>Third level</a:t>
            </a:r>
          </a:p>
          <a:p>
            <a:pPr lvl="3" rtl="1" algn="r"/>
            <a:r>
              <a:rPr lang="fa-IR" dirty="0">
                <a:latin typeface="Tahoma"/>
                <a:cs typeface="Tahoma"/>
              </a:rPr>
              <a:t>Fourth level</a:t>
            </a:r>
          </a:p>
          <a:p>
            <a:pPr lvl="4" rtl="1" algn="r"/>
            <a:r>
              <a:rPr lang="fa-IR" dirty="0">
                <a:latin typeface="Tahoma"/>
                <a:cs typeface="Tahoma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pPr rtl="1" algn="r"/>
            <a:fld id="{241EB5C9-1307-BA42-ABA2-0BC069CD8E7F}" type="datetimeFigureOut">
              <a:rPr lang="fa-IR" smtClean="0" dirty="0">
                <a:latin typeface="Tahoma"/>
                <a:cs typeface="Tahoma"/>
              </a:rPr>
              <a:t>1/2/22</a:t>
            </a:fld>
            <a:endParaRPr lang="fa-IR" dirty="0">
              <a:latin typeface="Tahoma"/>
              <a:cs typeface="Tahoma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pPr rtl="1" algn="r"/>
            <a:endParaRPr lang="fa-IR" dirty="0">
              <a:latin typeface="Tahoma"/>
              <a:cs typeface="Tahom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 lang="fa-IR" dirty="0">
                <a:solidFill>
                  <a:schemeClr val="tx1">
                    <a:tint val="75000"/>
                  </a:schemeClr>
                </a:solidFill>
                <a:latin typeface="Tahoma"/>
                <a:cs typeface="Tahoma"/>
              </a:defRPr>
            </a:lvl1pPr>
          </a:lstStyle>
          <a:p>
            <a:pPr rtl="1" algn="r"/>
            <a:fld id="{C5EF2332-01BF-834F-8236-50238282D533}" type="slidenum">
              <a:rPr lang="fa-IR" smtClean="0" dirty="0">
                <a:latin typeface="Tahoma"/>
                <a:cs typeface="Tahoma"/>
              </a:rPr>
              <a:t>‹#›</a:t>
            </a:fld>
            <a:endParaRPr lang="fa-IR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 lang="fa-IR" dirty="0">
          <a:solidFill>
            <a:schemeClr val="tx1"/>
          </a:solidFill>
          <a:latin typeface="Tahoma"/>
          <a:ea typeface="+mj-ea"/>
          <a:cs typeface="Tahom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 lang="fa-IR" dirty="0">
          <a:solidFill>
            <a:schemeClr val="tx1"/>
          </a:solidFill>
          <a:latin typeface="Tahoma"/>
          <a:ea typeface="+mn-ea"/>
          <a:cs typeface="Tahom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 lang="fa-IR" dirty="0">
          <a:solidFill>
            <a:schemeClr val="tx1"/>
          </a:solidFill>
          <a:latin typeface="Tahoma"/>
          <a:ea typeface="+mn-ea"/>
          <a:cs typeface="Tahom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 lang="fa-IR" dirty="0">
          <a:solidFill>
            <a:schemeClr val="tx1"/>
          </a:solidFill>
          <a:latin typeface="Tahoma"/>
          <a:ea typeface="+mn-ea"/>
          <a:cs typeface="Tahom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 lang="fa-IR" dirty="0">
          <a:solidFill>
            <a:schemeClr val="tx1"/>
          </a:solidFill>
          <a:latin typeface="Tahoma"/>
          <a:ea typeface="+mn-ea"/>
          <a:cs typeface="Tahoma"/>
        </a:defRPr>
      </a:lvl9pPr>
    </p:bodyStyle>
    <p:otherStyle>
      <a:defPPr>
        <a:defRPr lang="fa-IR" dirty="0">
          <a:latin typeface="Tahoma"/>
          <a:cs typeface="Tahoma"/>
        </a:defRPr>
      </a:defPPr>
      <a:lvl1pPr algn="l" defTabSz="342900" eaLnBrk="1" hangingPunct="1" latinLnBrk="0" marL="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1pPr>
      <a:lvl2pPr algn="l" defTabSz="342900" eaLnBrk="1" hangingPunct="1" latinLnBrk="0" marL="3429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2pPr>
      <a:lvl3pPr algn="l" defTabSz="342900" eaLnBrk="1" hangingPunct="1" latinLnBrk="0" marL="6858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3pPr>
      <a:lvl4pPr algn="l" defTabSz="342900" eaLnBrk="1" hangingPunct="1" latinLnBrk="0" marL="10287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4pPr>
      <a:lvl5pPr algn="l" defTabSz="342900" eaLnBrk="1" hangingPunct="1" latinLnBrk="0" marL="13716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5pPr>
      <a:lvl6pPr algn="l" defTabSz="342900" eaLnBrk="1" hangingPunct="1" latinLnBrk="0" marL="17145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6pPr>
      <a:lvl7pPr algn="l" defTabSz="342900" eaLnBrk="1" hangingPunct="1" latinLnBrk="0" marL="20574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7pPr>
      <a:lvl8pPr algn="l" defTabSz="342900" eaLnBrk="1" hangingPunct="1" latinLnBrk="0" marL="24003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8pPr>
      <a:lvl9pPr algn="l" defTabSz="342900" eaLnBrk="1" hangingPunct="1" latinLnBrk="0" marL="2743200" rtl="0">
        <a:defRPr kern="1200" sz="1350" lang="fa-IR" dirty="0">
          <a:solidFill>
            <a:schemeClr val="tx1"/>
          </a:solidFill>
          <a:latin typeface="Tahoma"/>
          <a:ea typeface="+mn-ea"/>
          <a:cs typeface="Tahoma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تحلیل ترموالاستیک استوانه‌های متخلخلِ تقویت‌شده با پلاکت‌های گرافنی تحت بارِ ترمو-مکانیکی با استفاده از تئوری لرد-شولمن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نگارنده: ‹نام دانشجو› | استاد راهنما: ‹نام استاد راهنما›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جلسهٔ دفاع کارشناسی ارشد — مهندسی مکانیک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فهرست مطالب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بیان مسئله و ضرورت پژوهش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هدف و پرسش‌های پژوهش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پیشینه و شکاف تحقیقاتی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مدل‌سازی: هندسه، مواد و الگوها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معادلات حاکم (تئوری لرد-شولمن)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روش حل: دیفرانسیل کوادریچر + نیومارک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صحت‌سنجی و همگرایی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نتایج و بحث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نوآوری‌ها و نتیجه‌گیری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محدودیت‌ها و پیشنهادها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بیان مسئله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در بارگذاری‌های حرارتیِ </a:t>
                </a:r>
                <a:r>
                  <a:rPr b="1" lang="fa-IR" dirty="0">
                    <a:latin typeface="Tahoma"/>
                    <a:cs typeface="Tahoma"/>
                  </a:rPr>
                  <a:t>گذرا و سریع</a:t>
                </a:r>
                <a:r>
                  <a:rPr lang="fa-IR" dirty="0">
                    <a:latin typeface="Tahoma"/>
                    <a:cs typeface="Tahoma"/>
                  </a:rPr>
                  <a:t> (شوک حرارتی)، تئوری کلاسیکِ فوریه سرعتِ انتشار حرارت را </a:t>
                </a:r>
                <a:r>
                  <a:rPr b="1" lang="fa-IR" dirty="0">
                    <a:latin typeface="Tahoma"/>
                    <a:cs typeface="Tahoma"/>
                  </a:rPr>
                  <a:t>بی‌نهایت</a:t>
                </a:r>
                <a:r>
                  <a:rPr lang="fa-IR" dirty="0">
                    <a:latin typeface="Tahoma"/>
                    <a:cs typeface="Tahoma"/>
                  </a:rPr>
                  <a:t> فرض می‌کند؛ فرضی غیرفیزیکی در زمان‌های کوتاه.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تئوری لرد-شولمن با افزودن زمان تخفیف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، معادلهٔ انرژی را </a:t>
                </a:r>
                <a:r>
                  <a:rPr b="1" lang="fa-IR" dirty="0">
                    <a:latin typeface="Tahoma"/>
                    <a:cs typeface="Tahoma"/>
                  </a:rPr>
                  <a:t>هذلولوی</a:t>
                </a:r>
                <a:r>
                  <a:rPr lang="fa-IR" dirty="0">
                    <a:latin typeface="Tahoma"/>
                    <a:cs typeface="Tahoma"/>
                  </a:rPr>
                  <a:t> می‌کند و انتشار حرارت را به‌صورت </a:t>
                </a:r>
                <a:r>
                  <a:rPr b="1" lang="fa-IR" dirty="0">
                    <a:latin typeface="Tahoma"/>
                    <a:cs typeface="Tahoma"/>
                  </a:rPr>
                  <a:t>موج با سرعت محدود</a:t>
                </a:r>
                <a:r>
                  <a:rPr lang="fa-IR" dirty="0">
                    <a:latin typeface="Tahoma"/>
                    <a:cs typeface="Tahoma"/>
                  </a:rPr>
                  <a:t> توصیف می‌نماید.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استوانه‌های جدارضخیم از موادِ مرکبِ </a:t>
                </a:r>
                <a:r>
                  <a:rPr b="1" lang="fa-IR" dirty="0">
                    <a:latin typeface="Tahoma"/>
                    <a:cs typeface="Tahoma"/>
                  </a:rPr>
                  <a:t>تقویت‌شده با گرافن</a:t>
                </a:r>
                <a:r>
                  <a:rPr lang="fa-IR" dirty="0">
                    <a:latin typeface="Tahoma"/>
                    <a:cs typeface="Tahoma"/>
                  </a:rPr>
                  <a:t> و </a:t>
                </a:r>
                <a:r>
                  <a:rPr b="1" lang="fa-IR" dirty="0">
                    <a:latin typeface="Tahoma"/>
                    <a:cs typeface="Tahoma"/>
                  </a:rPr>
                  <a:t>متخلخل</a:t>
                </a:r>
                <a:r>
                  <a:rPr lang="fa-IR" dirty="0">
                    <a:latin typeface="Tahoma"/>
                    <a:cs typeface="Tahoma"/>
                  </a:rPr>
                  <a:t> در مخازن تحت فشار، محفظه‌های احتراق و سامانه‌های حفاظت حرارتی کاربرد دارند.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پرسش کلیدی: </a:t>
                </a:r>
                <a:r>
                  <a:rPr b="1" lang="fa-IR" dirty="0">
                    <a:latin typeface="Tahoma"/>
                    <a:cs typeface="Tahoma"/>
                  </a:rPr>
                  <a:t>الگوی توزیعِ گرافن و تخلخل در ضخامت</a:t>
                </a:r>
                <a:r>
                  <a:rPr lang="fa-IR" dirty="0">
                    <a:latin typeface="Tahoma"/>
                    <a:cs typeface="Tahoma"/>
                  </a:rPr>
                  <a:t> چگونه پاسخِ حرارتی و تنشیِ گذرا را تغییر می‌دهد؟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هدف پژوهش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استخراج و حلِ </a:t>
                </a:r>
                <a:r>
                  <a:rPr b="1" lang="fa-IR" dirty="0">
                    <a:latin typeface="Tahoma"/>
                    <a:cs typeface="Tahoma"/>
                  </a:rPr>
                  <a:t>کاملاً ممزوجِ</a:t>
                </a:r>
                <a:r>
                  <a:rPr lang="fa-IR" dirty="0">
                    <a:latin typeface="Tahoma"/>
                    <a:cs typeface="Tahoma"/>
                  </a:rPr>
                  <a:t> معادلات ترموالاستیسیتهٔ لرد-شولمن برای استوانهٔ توخالیِ چندلایهٔ متخلخلِ تقویت‌شده با گرافن.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بررسی توزیعِ </a:t>
                </a:r>
                <a:r>
                  <a:rPr b="1" lang="fa-IR" dirty="0">
                    <a:latin typeface="Tahoma"/>
                    <a:cs typeface="Tahoma"/>
                  </a:rPr>
                  <a:t>دما، تنش، کرنش و جابجایی</a:t>
                </a:r>
                <a:r>
                  <a:rPr lang="fa-IR" dirty="0">
                    <a:latin typeface="Tahoma"/>
                    <a:cs typeface="Tahoma"/>
                  </a:rPr>
                  <a:t> در فضای دوبعدی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r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کمّی‌سازیِ اثرِ </a:t>
                </a:r>
                <a:r>
                  <a:rPr b="1" lang="fa-IR" dirty="0">
                    <a:latin typeface="Tahoma"/>
                    <a:cs typeface="Tahoma"/>
                  </a:rPr>
                  <a:t>الگوهای پنج‌گانهٔ</a:t>
                </a:r>
                <a:r>
                  <a:rPr lang="fa-IR" dirty="0">
                    <a:latin typeface="Tahoma"/>
                    <a:cs typeface="Tahoma"/>
                  </a:rPr>
                  <a:t> توزیع گرافن و تخلخل (UD, O, X, V, A).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مقایسهٔ تئوری‌های ترموالاستیسیته و تعیینِ محدودهٔ واگراییِ آن‌ها.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ارائهٔ یک </a:t>
                </a:r>
                <a:r>
                  <a:rPr b="1" lang="fa-IR" dirty="0">
                    <a:latin typeface="Tahoma"/>
                    <a:cs typeface="Tahoma"/>
                  </a:rPr>
                  <a:t>توصیهٔ طراحی</a:t>
                </a:r>
                <a:r>
                  <a:rPr lang="fa-IR" dirty="0">
                    <a:latin typeface="Tahoma"/>
                    <a:cs typeface="Tahoma"/>
                  </a:rPr>
                  <a:t> برای حفاظت حرارتی.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پیشینه و شکاف تحقیقاتی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مطالعاتِ پیشین عمدتاً: یا هدایتِ </a:t>
            </a:r>
            <a:r>
              <a:rPr b="1" lang="fa-IR" dirty="0">
                <a:latin typeface="Tahoma"/>
                <a:cs typeface="Tahoma"/>
              </a:rPr>
              <a:t>کلاسیکِ فوریه</a:t>
            </a:r>
            <a:r>
              <a:rPr lang="fa-IR" dirty="0">
                <a:latin typeface="Tahoma"/>
                <a:cs typeface="Tahoma"/>
              </a:rPr>
              <a:t>، یا حلِ </a:t>
            </a:r>
            <a:r>
              <a:rPr b="1" lang="fa-IR" dirty="0">
                <a:latin typeface="Tahoma"/>
                <a:cs typeface="Tahoma"/>
              </a:rPr>
              <a:t>غیرممزوج</a:t>
            </a:r>
            <a:r>
              <a:rPr lang="fa-IR" dirty="0">
                <a:latin typeface="Tahoma"/>
                <a:cs typeface="Tahoma"/>
              </a:rPr>
              <a:t>، یا هندسهٔ </a:t>
            </a:r>
            <a:r>
              <a:rPr b="1" lang="fa-IR" dirty="0">
                <a:latin typeface="Tahoma"/>
                <a:cs typeface="Tahoma"/>
              </a:rPr>
              <a:t>یک‌بعدی</a:t>
            </a:r>
            <a:r>
              <a:rPr lang="fa-IR" dirty="0">
                <a:latin typeface="Tahoma"/>
                <a:cs typeface="Tahoma"/>
              </a:rPr>
              <a:t> را به کار برده‌اند.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اثرِ تخلخل و گرافن غالباً </a:t>
            </a:r>
            <a:r>
              <a:rPr b="1" lang="fa-IR" dirty="0">
                <a:latin typeface="Tahoma"/>
                <a:cs typeface="Tahoma"/>
              </a:rPr>
              <a:t>جداگانه</a:t>
            </a:r>
            <a:r>
              <a:rPr lang="fa-IR" dirty="0">
                <a:latin typeface="Tahoma"/>
                <a:cs typeface="Tahoma"/>
              </a:rPr>
              <a:t> بررسی شده است؛ </a:t>
            </a:r>
            <a:r>
              <a:rPr b="1" lang="fa-IR" dirty="0">
                <a:latin typeface="Tahoma"/>
                <a:cs typeface="Tahoma"/>
              </a:rPr>
              <a:t>برهم‌کنشِ هم‌زمانِ</a:t>
            </a:r>
            <a:r>
              <a:rPr lang="fa-IR" dirty="0">
                <a:latin typeface="Tahoma"/>
                <a:cs typeface="Tahoma"/>
              </a:rPr>
              <a:t> دو الگو کمتر گزارش شده.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شکاف: حلِ </a:t>
            </a:r>
            <a:r>
              <a:rPr b="1" lang="fa-IR" dirty="0">
                <a:latin typeface="Tahoma"/>
                <a:cs typeface="Tahoma"/>
              </a:rPr>
              <a:t>ممزوجِ لرد-شولمن</a:t>
            </a:r>
            <a:r>
              <a:rPr lang="fa-IR" dirty="0">
                <a:latin typeface="Tahoma"/>
                <a:cs typeface="Tahoma"/>
              </a:rPr>
              <a:t> برای استوانهٔ </a:t>
            </a:r>
            <a:r>
              <a:rPr b="1" lang="fa-IR" dirty="0">
                <a:latin typeface="Tahoma"/>
                <a:cs typeface="Tahoma"/>
              </a:rPr>
              <a:t>چندلایهٔ متخلخلِ گرافنی</a:t>
            </a:r>
            <a:r>
              <a:rPr lang="fa-IR" dirty="0">
                <a:latin typeface="Tahoma"/>
                <a:cs typeface="Tahoma"/>
              </a:rPr>
              <a:t> در دو بُعد، همراه با </a:t>
            </a:r>
            <a:r>
              <a:rPr b="1" lang="fa-IR" dirty="0">
                <a:latin typeface="Tahoma"/>
                <a:cs typeface="Tahoma"/>
              </a:rPr>
              <a:t>ماتریس کاملِ برهم‌کنشِ الگوها</a:t>
            </a:r>
            <a:r>
              <a:rPr lang="fa-IR" dirty="0">
                <a:latin typeface="Tahoma"/>
                <a:cs typeface="Tahoma"/>
              </a:rPr>
              <a:t>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این پژوهش دقیقاً همین شکاف را هدف گرفته است.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هندسهٔ مسئله</a:t>
            </a:r>
          </a:p>
        </p:txBody>
      </p:sp>
      <p:pic>
        <p:nvPicPr>
          <p:cNvPr descr="c:/Users/InfosaicUser/Desktop/MSc/Lord-Shulman-theory-thermoelastic-cylinder/claude/figures_ch123/geometry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58900" y="1193800"/>
            <a:ext cx="6438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مشخصات حالتِ مرجع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استوانهٔ توخالی: شعاع داخلی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m، شعاع خارجی </a:t>
                </a:r>
                <a14:m>
                  <m:oMath xmlns:m="http://schemas.openxmlformats.org/officeDocument/2006/math">
                    <m:sSub>
                      <m:e>
                        <m:r>
                          <m:t>R</m:t>
                        </m:r>
                      </m:e>
                      <m:sub>
                        <m:r>
                          <m:t>o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1.5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m، طول 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2.1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تعداد لایه‌ها: </a:t>
                </a:r>
                <a14:m>
                  <m:oMath xmlns:m="http://schemas.openxmlformats.org/officeDocument/2006/math">
                    <m:sSub>
                      <m:e>
                        <m:r>
                          <m:t>N</m:t>
                        </m:r>
                      </m:e>
                      <m:sub>
                        <m:r>
                          <m:t>L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7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— خواصِ هر لایه بر پایهٔ کسرِ گرافن و تخلخلِ آن لایه.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بارگذاری: سطح داخلی </a:t>
                </a:r>
                <a14:m>
                  <m:oMath xmlns:m="http://schemas.openxmlformats.org/officeDocument/2006/math">
                    <m:r>
                      <m:t>300</m:t>
                    </m:r>
                    <m:r>
                      <m:rPr>
                        <m:sty m:val="p"/>
                      </m:rPr>
                      <m:t>→</m:t>
                    </m:r>
                    <m:r>
                      <m:t>600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K و فشار داخلی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50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MPa؛ سطح خارجی همرفتی با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W/m²K؛ انتهاها عایقِ حرارتی و تکیه‌گاهِ ساده.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زمان تخفیف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418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s (معادلِ </a:t>
                </a:r>
                <a14:m>
                  <m:oMath xmlns:m="http://schemas.openxmlformats.org/officeDocument/2006/math">
                    <m:sSup>
                      <m:e>
                        <m:r>
                          <m:t>τ</m:t>
                        </m:r>
                      </m:e>
                      <m:sup>
                        <m:r>
                          <m:rPr>
                            <m:sty m:val="p"/>
                          </m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m:t>≈</m:t>
                    </m:r>
                    <m:r>
                      <m:t>0.15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)، زمان کل ۳۰۰۰ ثانیه.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خواصِ الاستیک: </a:t>
                </a:r>
                <a:r>
                  <a:rPr b="1" lang="fa-IR" dirty="0">
                    <a:latin typeface="Tahoma"/>
                    <a:cs typeface="Tahoma"/>
                  </a:rPr>
                  <a:t>هالپین-تسای</a:t>
                </a:r>
                <a:r>
                  <a:rPr lang="fa-IR" dirty="0">
                    <a:latin typeface="Tahoma"/>
                    <a:cs typeface="Tahoma"/>
                  </a:rPr>
                  <a:t> + قانون مخلوط‌ها؛ تخلخل: تئوری </a:t>
                </a:r>
                <a:r>
                  <a:rPr b="1" lang="fa-IR" dirty="0">
                    <a:latin typeface="Tahoma"/>
                    <a:cs typeface="Tahoma"/>
                  </a:rPr>
                  <a:t>سلول باز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الگوهای توزیع گرافن</a:t>
            </a:r>
          </a:p>
        </p:txBody>
      </p:sp>
      <p:pic>
        <p:nvPicPr>
          <p:cNvPr descr="c:/Users/InfosaicUser/Desktop/MSc/Lord-Shulman-theory-thermoelastic-cylinder/claude/figures_ch123/GPL_patterns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74900" y="1193800"/>
            <a:ext cx="4381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الگوهای توزیع تخلخل</a:t>
            </a:r>
          </a:p>
        </p:txBody>
      </p:sp>
      <p:pic>
        <p:nvPicPr>
          <p:cNvPr descr="c:/Users/InfosaicUser/Desktop/MSc/Lord-Shulman-theory-thermoelastic-cylinder/claude/figures_ch123/porosity_patterns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70100" y="1193800"/>
            <a:ext cx="5016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معادلات حاکم — تئوری لرد-شولمن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معادلهٔ انرژیِ لرد-شولمن (با زمان تخفیف </a:t>
                </a:r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):</a:t>
                </a:r>
              </a:p>
              <a:p>
                <a:pPr lvl="0" indent="0" marL="0" rtl="1" algn="r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ρ</m:t>
                      </m:r>
                      <m:r>
                        <m:t>c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τ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acc>
                            <m:accPr>
                              <m:chr m:val="̈"/>
                            </m:accPr>
                            <m:e>
                              <m:r>
                                <m:t>θ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r>
                        <m:t>β</m:t>
                      </m:r>
                      <m:sSub>
                        <m:e>
                          <m:r>
                            <m:t>T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m:t>e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m:t>τ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acc>
                            <m:accPr>
                              <m:chr m:val="̈"/>
                            </m:accPr>
                            <m:e>
                              <m:r>
                                <m:t>e</m:t>
                              </m:r>
                            </m:e>
                          </m:acc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∇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k</m:t>
                      </m:r>
                      <m:r>
                        <m:rPr>
                          <m:sty m:val="p"/>
                        </m:rPr>
                        <m:t>∇</m:t>
                      </m:r>
                      <m:r>
                        <m:t>θ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معادلات حرکت در راستای شعاعی و محوری، با جملهٔ تنشِ حرارتی 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t>θ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جملهٔ </a:t>
                </a:r>
                <a14:m>
                  <m:oMath xmlns:m="http://schemas.openxmlformats.org/officeDocument/2006/math">
                    <m:r>
                      <m:t>β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acc>
                      <m:accPr>
                        <m:chr m:val="̇"/>
                      </m:accPr>
                      <m:e>
                        <m:r>
                          <m:t>e</m:t>
                        </m:r>
                      </m:e>
                    </m:acc>
                  </m:oMath>
                </a14:m>
                <a:r>
                  <a:rPr lang="fa-IR" dirty="0">
                    <a:latin typeface="Tahoma"/>
                    <a:cs typeface="Tahoma"/>
                  </a:rPr>
                  <a:t>
                  </a:t>
                </a:r>
                <a:r>
                  <a:rPr b="1" lang="fa-IR" dirty="0">
                    <a:latin typeface="Tahoma"/>
                    <a:cs typeface="Tahoma"/>
                  </a:rPr>
                  <a:t>پیوندِ ممزوج</a:t>
                </a:r>
                <a:r>
                  <a:rPr lang="fa-IR" dirty="0">
                    <a:latin typeface="Tahoma"/>
                    <a:cs typeface="Tahoma"/>
                  </a:rPr>
                  <a:t> میان میدانِ دما و تغییرشکل است.</a:t>
                </a:r>
              </a:p>
              <a:p>
                <a:pPr lvl="0" rtl="1" algn="r"/>
                <a14:m>
                  <m:oMath xmlns:m="http://schemas.openxmlformats.org/officeDocument/2006/math">
                    <m:sSub>
                      <m:e>
                        <m:r>
                          <m:t>τ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→</m:t>
                    </m:r>
                    <m:r>
                      <m:t>0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معادله را به </a:t>
                </a:r>
                <a:r>
                  <a:rPr b="1" lang="fa-IR" dirty="0">
                    <a:latin typeface="Tahoma"/>
                    <a:cs typeface="Tahoma"/>
                  </a:rPr>
                  <a:t>فوریهٔ کلاسیک</a:t>
                </a:r>
                <a:r>
                  <a:rPr lang="fa-IR" dirty="0">
                    <a:latin typeface="Tahoma"/>
                    <a:cs typeface="Tahoma"/>
                  </a:rPr>
                  <a:t> فرو می‌کاهد؛ سرعتِ موج </a:t>
                </a:r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α</m:t>
                        </m:r>
                        <m:r>
                          <m:rPr>
                            <m:sty m:val="p"/>
                          </m:rPr>
                          <m:t>/</m:t>
                        </m:r>
                        <m:sSub>
                          <m:e>
                            <m:r>
                              <m:t>τ</m:t>
                            </m:r>
                          </m:e>
                          <m:sub>
                            <m:r>
                              <m:t>0</m:t>
                            </m:r>
                          </m:sub>
                        </m:sSub>
                      </m:e>
                    </m:rad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روش حل عددی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b="1" lang="fa-IR" dirty="0">
                    <a:latin typeface="Tahoma"/>
                    <a:cs typeface="Tahoma"/>
                  </a:rPr>
                  <a:t>مکان:</a:t>
                </a:r>
                <a:r>
                  <a:rPr lang="fa-IR" dirty="0">
                    <a:latin typeface="Tahoma"/>
                    <a:cs typeface="Tahoma"/>
                  </a:rPr>
                  <a:t> روش دیفرانسیل کوادریچر (DQM) به‌صورت </a:t>
                </a:r>
                <a:r>
                  <a:rPr b="1" lang="fa-IR" dirty="0">
                    <a:latin typeface="Tahoma"/>
                    <a:cs typeface="Tahoma"/>
                  </a:rPr>
                  <a:t>لایه‌ای</a:t>
                </a:r>
                <a:r>
                  <a:rPr lang="fa-IR" dirty="0">
                    <a:latin typeface="Tahoma"/>
                    <a:cs typeface="Tahoma"/>
                  </a:rPr>
                  <a:t> در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r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 با نقاط چبیشف-گاوس-لوباتو.</a:t>
                </a:r>
              </a:p>
              <a:p>
                <a:pPr lvl="0" rtl="1" algn="r"/>
                <a:r>
                  <a:rPr b="1" lang="fa-IR" dirty="0">
                    <a:latin typeface="Tahoma"/>
                    <a:cs typeface="Tahoma"/>
                  </a:rPr>
                  <a:t>زمان:</a:t>
                </a:r>
                <a:r>
                  <a:rPr lang="fa-IR" dirty="0">
                    <a:latin typeface="Tahoma"/>
                    <a:cs typeface="Tahoma"/>
                  </a:rPr>
                  <a:t> انتگرال‌گیر نیومارک (</a:t>
                </a:r>
                <a14:m>
                  <m:oMath xmlns:m="http://schemas.openxmlformats.org/officeDocument/2006/math">
                    <m:r>
                      <m:t>β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4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، </a:t>
                </a:r>
                <a14:m>
                  <m:oMath xmlns:m="http://schemas.openxmlformats.org/officeDocument/2006/math">
                    <m:r>
                      <m:t>γ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) — بدون قید پایداری.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شرایط مرزی و </a:t>
                </a:r>
                <a:r>
                  <a:rPr b="1" lang="fa-IR" dirty="0">
                    <a:latin typeface="Tahoma"/>
                    <a:cs typeface="Tahoma"/>
                  </a:rPr>
                  <a:t>سازگاریِ بین‌لایه‌ای</a:t>
                </a:r>
                <a:r>
                  <a:rPr lang="fa-IR" dirty="0">
                    <a:latin typeface="Tahoma"/>
                    <a:cs typeface="Tahoma"/>
                  </a:rPr>
                  <a:t> (پیوستگیِ دما، شار، جابجایی و تنش) به صورت سطرهای جبری اعمال می‌شوند.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مزیت: DQM در هر راستا حدود </a:t>
                </a:r>
                <a:r>
                  <a:rPr b="1" lang="fa-IR" dirty="0">
                    <a:latin typeface="Tahoma"/>
                    <a:cs typeface="Tahoma"/>
                  </a:rPr>
                  <a:t>۱۵ برابر</a:t>
                </a:r>
                <a:r>
                  <a:rPr lang="fa-IR" dirty="0">
                    <a:latin typeface="Tahoma"/>
                    <a:cs typeface="Tahoma"/>
                  </a:rPr>
                  <a:t> نقطهٔ کمتر از تفاضل محدود و اجزای محدودِ خطی نیاز دارد.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شبکهٔ دیفرانسیل کوادریچر</a:t>
            </a:r>
          </a:p>
        </p:txBody>
      </p:sp>
      <p:pic>
        <p:nvPicPr>
          <p:cNvPr descr="c:/Users/InfosaicUser/Desktop/MSc/Lord-Shulman-theory-thermoelastic-cylinder/claude/figures_ch123/DQM_nodes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7581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فلوچارت حل</a:t>
            </a:r>
          </a:p>
        </p:txBody>
      </p:sp>
      <p:pic>
        <p:nvPicPr>
          <p:cNvPr descr="c:/Users/InfosaicUser/Desktop/MSc/Lord-Shulman-theory-thermoelastic-cylinder/claude/figures_ch123/solution_flowchar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467100" y="1193800"/>
            <a:ext cx="2197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صحت‌سنجی — پنج آزمون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حدِ استاتیکی:</a:t>
                </a:r>
                <a:r>
                  <a:rPr lang="fa-IR" dirty="0">
                    <a:latin typeface="Tahoma"/>
                    <a:cs typeface="Tahoma"/>
                  </a:rPr>
                  <a:t> انطباق با مونتاژِ استاتیکیِ مستقل (اختلاف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∼</m:t>
                    </m:r>
                    <m:r>
                      <m:t>2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11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).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پاسخ مکانیکی:</a:t>
                </a:r>
                <a:r>
                  <a:rPr lang="fa-IR" dirty="0">
                    <a:latin typeface="Tahoma"/>
                    <a:cs typeface="Tahoma"/>
                  </a:rPr>
                  <a:t> مقایسه با ملک‌زاده و حیدرپور (۲۰۱۲) — خطای ۰٫۱ تا ۰٫۲ درصد.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هدایتِ گذرا:</a:t>
                </a:r>
                <a:r>
                  <a:rPr lang="fa-IR" dirty="0">
                    <a:latin typeface="Tahoma"/>
                    <a:cs typeface="Tahoma"/>
                  </a:rPr>
                  <a:t> مقایسه با حلِ دقیقِ سریِ بسل — خطای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 تا </a:t>
                </a:r>
                <a14:m>
                  <m:oMath xmlns:m="http://schemas.openxmlformats.org/officeDocument/2006/math"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7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انتگرال‌گیرِ زمانی:</a:t>
                </a:r>
                <a:r>
                  <a:rPr lang="fa-IR" dirty="0">
                    <a:latin typeface="Tahoma"/>
                    <a:cs typeface="Tahoma"/>
                  </a:rPr>
                  <a:t> مقایسه با </a:t>
                </a:r>
                <a:r>
                  <a:rPr lang="fa-IR" dirty="0">
                    <a:latin typeface="Tahoma"/>
                    <a:cs typeface="Tahoma"/>
                  </a:rPr>
                  <a:t>ode15s</a:t>
                </a:r>
                <a:r>
                  <a:rPr lang="fa-IR" dirty="0">
                    <a:latin typeface="Tahoma"/>
                    <a:cs typeface="Tahoma"/>
                  </a:rPr>
                  <a:t> — اختلاف ۰٫۰۰۳ کلوین.</a:t>
                </a:r>
              </a:p>
              <a:p>
                <a:pPr lvl="0" indent="-342900" marL="342900" rtl="1" algn="r">
                  <a:buAutoNum type="arabicPeriod"/>
                </a:pPr>
                <a:r>
                  <a:rPr b="1" lang="fa-IR" dirty="0">
                    <a:latin typeface="Tahoma"/>
                    <a:cs typeface="Tahoma"/>
                  </a:rPr>
                  <a:t>موجِ صوتِ دوم:</a:t>
                </a:r>
                <a:r>
                  <a:rPr lang="fa-IR" dirty="0">
                    <a:latin typeface="Tahoma"/>
                    <a:cs typeface="Tahoma"/>
                  </a:rPr>
                  <a:t> صحت‌سنجیِ </a:t>
                </a:r>
                <a:r>
                  <a:rPr b="1" lang="fa-IR" dirty="0">
                    <a:latin typeface="Tahoma"/>
                    <a:cs typeface="Tahoma"/>
                  </a:rPr>
                  <a:t>کمّی</a:t>
                </a:r>
                <a:r>
                  <a:rPr lang="fa-IR" dirty="0">
                    <a:latin typeface="Tahoma"/>
                    <a:cs typeface="Tahoma"/>
                  </a:rPr>
                  <a:t> در برابر حلِ دقیقِ تحلیلی (اسلاید بعد).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صحت‌سنجیِ کمّیِ موجِ صوتِ دوم</a:t>
            </a:r>
          </a:p>
        </p:txBody>
      </p:sp>
      <p:pic>
        <p:nvPicPr>
          <p:cNvPr descr="c:/Users/InfosaicUser/Desktop/MSc/Lord-Shulman-theory-thermoelastic-cylinder/claude/figures_validation/ls_wave_validation_R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1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صحت‌سنجیِ موج — نتایج عددی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مرجع: </a:t>
                </a:r>
                <a:r>
                  <a:rPr b="1" lang="fa-IR" dirty="0">
                    <a:latin typeface="Tahoma"/>
                    <a:cs typeface="Tahoma"/>
                  </a:rPr>
                  <a:t>حلِ دقیقِ تحلیلی</a:t>
                </a:r>
                <a:r>
                  <a:rPr lang="fa-IR" dirty="0">
                    <a:latin typeface="Tahoma"/>
                    <a:cs typeface="Tahoma"/>
                  </a:rPr>
                  <a:t> برای همان هندسه (بسطِ ویژه‌تابعِ فوریه-بسل؛ هر مُد یک نوسانگرِ میرا با حلِ بسته — بدون گسسته‌سازیِ زمانی).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اعتبارِ خودِ مرجع: حدِ پایا تا </a:t>
                </a:r>
                <a14:m>
                  <m:oMath xmlns:m="http://schemas.openxmlformats.org/officeDocument/2006/math">
                    <m:r>
                      <m:t>1.9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16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، علیّتِ هذلولوی تا </a:t>
                </a:r>
                <a14:m>
                  <m:oMath xmlns:m="http://schemas.openxmlformats.org/officeDocument/2006/math">
                    <m:r>
                      <m:t>4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6</m:t>
                        </m:r>
                      </m:sup>
                    </m:sSup>
                  </m:oMath>
                </a14:m>
                <a:r>
                  <a:rPr lang="fa-IR" dirty="0">
                    <a:latin typeface="Tahoma"/>
                    <a:cs typeface="Tahoma"/>
                  </a:rPr>
                  <a:t>، و انطباقِ نسبتِ پرشِ پیشانی با قانونِ پرتوِ تحلیلی تا </a:t>
                </a:r>
                <a:r>
                  <a:rPr b="1" lang="fa-IR" dirty="0">
                    <a:latin typeface="Tahoma"/>
                    <a:cs typeface="Tahoma"/>
                  </a:rPr>
                  <a:t>۰٫۱۶٪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خطای حل‌گر: </a:t>
                </a:r>
                <a:r>
                  <a:rPr b="1" lang="fa-IR" dirty="0">
                    <a:latin typeface="Tahoma"/>
                    <a:cs typeface="Tahoma"/>
                  </a:rPr>
                  <a:t>۰٫۳۲٪</a:t>
                </a:r>
                <a:r>
                  <a:rPr lang="fa-IR" dirty="0">
                    <a:latin typeface="Tahoma"/>
                    <a:cs typeface="Tahoma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m:t>∞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) و </a:t>
                </a:r>
                <a:r>
                  <a:rPr b="1" lang="fa-IR" dirty="0">
                    <a:latin typeface="Tahoma"/>
                    <a:cs typeface="Tahoma"/>
                  </a:rPr>
                  <a:t>۰٫۰۶۵٪</a:t>
                </a:r>
                <a:r>
                  <a:rPr lang="fa-IR" dirty="0">
                    <a:latin typeface="Tahoma"/>
                    <a:cs typeface="Tahoma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) نسبت به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T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خطا با ریزسازیِ شبکه </a:t>
                </a:r>
                <a:r>
                  <a:rPr b="1" lang="fa-IR" dirty="0">
                    <a:latin typeface="Tahoma"/>
                    <a:cs typeface="Tahoma"/>
                  </a:rPr>
                  <a:t>یکنواخت کاهش</a:t>
                </a:r>
                <a:r>
                  <a:rPr lang="fa-IR" dirty="0">
                    <a:latin typeface="Tahoma"/>
                    <a:cs typeface="Tahoma"/>
                  </a:rPr>
                  <a:t> می‌یابد (</a:t>
                </a:r>
                <a14:m>
                  <m:oMath xmlns:m="http://schemas.openxmlformats.org/officeDocument/2006/math">
                    <m:sSub>
                      <m:e>
                        <m: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m:t>∞</m:t>
                        </m:r>
                      </m:sub>
                    </m:sSub>
                  </m:oMath>
                </a14:m>
                <a:r>
                  <a:rPr lang="fa-IR" dirty="0">
                    <a:latin typeface="Tahoma"/>
                    <a:cs typeface="Tahoma"/>
                  </a:rPr>
                  <a:t> از ۱٫۳۴٪ به ۰٫۳۲٪): پس نوسان‌های پشتِ پیشانی اثرِ </a:t>
                </a:r>
                <a:r>
                  <a:rPr b="1" lang="fa-IR" dirty="0">
                    <a:latin typeface="Tahoma"/>
                    <a:cs typeface="Tahoma"/>
                  </a:rPr>
                  <a:t>گسسته‌سازی (گیبس)</a:t>
                </a:r>
                <a:r>
                  <a:rPr lang="fa-IR" dirty="0">
                    <a:latin typeface="Tahoma"/>
                    <a:cs typeface="Tahoma"/>
                  </a:rPr>
                  <a:t> است، نه ناپایداریِ فیزیکی.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پیشانیِ موج با دقتِ </a:t>
                </a:r>
                <a:r>
                  <a:rPr b="1" lang="fa-IR" dirty="0">
                    <a:latin typeface="Tahoma"/>
                    <a:cs typeface="Tahoma"/>
                  </a:rPr>
                  <a:t>کمتر از یک فاصلهٔ شبکه</a:t>
                </a:r>
                <a:r>
                  <a:rPr lang="fa-IR" dirty="0">
                    <a:latin typeface="Tahoma"/>
                    <a:cs typeface="Tahoma"/>
                  </a:rPr>
                  <a:t> ردیابی می‌شود.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همگرایی شبکه</a:t>
            </a:r>
          </a:p>
        </p:txBody>
      </p:sp>
      <p:pic>
        <p:nvPicPr>
          <p:cNvPr descr="c:/Users/InfosaicUser/Desktop/MSc/Lord-Shulman-theory-thermoelastic-cylinder/claude/figures_ch4_color/conv_mast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36800" y="1193800"/>
            <a:ext cx="448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۱ — موج حرارتی و فراجهش دما</a:t>
            </a:r>
          </a:p>
        </p:txBody>
      </p:sp>
      <p:pic>
        <p:nvPicPr>
          <p:cNvPr descr="c:/Users/InfosaicUser/Desktop/MSc/Lord-Shulman-theory-thermoelastic-cylinder/claude/figures_ch4_color/C_relaxa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۱ — تفسیر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برخلاف فوریه، دمای میان‌جداری می‌تواند از مقدارِ محرک </a:t>
            </a:r>
            <a:r>
              <a:rPr b="1" lang="fa-IR" dirty="0">
                <a:latin typeface="Tahoma"/>
                <a:cs typeface="Tahoma"/>
              </a:rPr>
              <a:t>فراتر رود</a:t>
            </a:r>
            <a:r>
              <a:rPr lang="fa-IR" dirty="0">
                <a:latin typeface="Tahoma"/>
                <a:cs typeface="Tahoma"/>
              </a:rPr>
              <a:t>: تا </a:t>
            </a:r>
            <a:r>
              <a:rPr b="1" lang="fa-IR" dirty="0">
                <a:latin typeface="Tahoma"/>
                <a:cs typeface="Tahoma"/>
              </a:rPr>
              <a:t>۱٫۱۱۵</a:t>
            </a:r>
            <a:r>
              <a:rPr lang="fa-IR" dirty="0">
                <a:latin typeface="Tahoma"/>
                <a:cs typeface="Tahoma"/>
              </a:rPr>
              <a:t> در کسر وزنیِ بالای گرافن و </a:t>
            </a:r>
            <a:r>
              <a:rPr b="1" lang="fa-IR" dirty="0">
                <a:latin typeface="Tahoma"/>
                <a:cs typeface="Tahoma"/>
              </a:rPr>
              <a:t>۱٫۱۰۹</a:t>
            </a:r>
            <a:r>
              <a:rPr lang="fa-IR" dirty="0">
                <a:latin typeface="Tahoma"/>
                <a:cs typeface="Tahoma"/>
              </a:rPr>
              <a:t> در تخلخلِ الگوی V.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تاریخچهٔ دما الگوی مشخصهٔ </a:t>
            </a:r>
            <a:r>
              <a:rPr b="1" lang="fa-IR" dirty="0">
                <a:latin typeface="Tahoma"/>
                <a:cs typeface="Tahoma"/>
              </a:rPr>
              <a:t>«قله-قعر»</a:t>
            </a:r>
            <a:r>
              <a:rPr lang="fa-IR" dirty="0">
                <a:latin typeface="Tahoma"/>
                <a:cs typeface="Tahoma"/>
              </a:rPr>
              <a:t> ناشی از رفت‌وبرگشت و بازتابِ موج از سطح خارجی را نشان می‌دهد.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این رفتار در تحلیل‌های </a:t>
            </a:r>
            <a:r>
              <a:rPr b="1" lang="fa-IR" dirty="0">
                <a:latin typeface="Tahoma"/>
                <a:cs typeface="Tahoma"/>
              </a:rPr>
              <a:t>کوتاه‌زمان</a:t>
            </a:r>
            <a:r>
              <a:rPr lang="fa-IR" dirty="0">
                <a:latin typeface="Tahoma"/>
                <a:cs typeface="Tahoma"/>
              </a:rPr>
              <a:t> تعیین‌کننده است و در مدلِ کلاسیک اساساً قابل بازتولید نیست.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۲ — اثر الگوی گرافن</a:t>
            </a:r>
          </a:p>
        </p:txBody>
      </p:sp>
      <p:pic>
        <p:nvPicPr>
          <p:cNvPr descr="c:/Users/InfosaicUser/Desktop/MSc/Lord-Shulman-theory-thermoelastic-cylinder/claude/figures_ch4_color/A_GPL_patter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28800" y="1193800"/>
            <a:ext cx="5486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۳ — اثر الگوی تخلخل</a:t>
            </a:r>
          </a:p>
        </p:txBody>
      </p:sp>
      <p:pic>
        <p:nvPicPr>
          <p:cNvPr descr="c:/Users/InfosaicUser/Desktop/MSc/Lord-Shulman-theory-thermoelastic-cylinder/claude/figures_ch4_color/B_porosity_patter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۲ و ۳ — تفسیر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b="1" lang="fa-IR" dirty="0">
                <a:latin typeface="Tahoma"/>
                <a:cs typeface="Tahoma"/>
              </a:rPr>
              <a:t>گرافنِ الگوی V</a:t>
            </a:r>
            <a:r>
              <a:rPr lang="fa-IR" dirty="0">
                <a:latin typeface="Tahoma"/>
                <a:cs typeface="Tahoma"/>
              </a:rPr>
              <a:t> (پلاکت‌های رسانا در سطح داخلیِ گرم): بیشینهٔ دما حدود </a:t>
            </a:r>
            <a:r>
              <a:rPr b="1" lang="fa-IR" dirty="0">
                <a:latin typeface="Tahoma"/>
                <a:cs typeface="Tahoma"/>
              </a:rPr>
              <a:t>۲۹٪</a:t>
            </a:r>
            <a:r>
              <a:rPr lang="fa-IR" dirty="0">
                <a:latin typeface="Tahoma"/>
                <a:cs typeface="Tahoma"/>
              </a:rPr>
              <a:t> کمتر از حالت یکنواخت و تنشِ محیطیِ سطح داخلی تا حدود </a:t>
            </a:r>
            <a:r>
              <a:rPr b="1" lang="fa-IR" dirty="0">
                <a:latin typeface="Tahoma"/>
                <a:cs typeface="Tahoma"/>
              </a:rPr>
              <a:t>۳ برابر</a:t>
            </a:r>
            <a:r>
              <a:rPr lang="fa-IR" dirty="0">
                <a:latin typeface="Tahoma"/>
                <a:cs typeface="Tahoma"/>
              </a:rPr>
              <a:t> کوچک‌تر.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الگوی A</a:t>
            </a:r>
            <a:r>
              <a:rPr lang="fa-IR" dirty="0">
                <a:latin typeface="Tahoma"/>
                <a:cs typeface="Tahoma"/>
              </a:rPr>
              <a:t> تصویرِ آینه‌ای V و </a:t>
            </a:r>
            <a:r>
              <a:rPr b="1" lang="fa-IR" dirty="0">
                <a:latin typeface="Tahoma"/>
                <a:cs typeface="Tahoma"/>
              </a:rPr>
              <a:t>بدترین</a:t>
            </a:r>
            <a:r>
              <a:rPr lang="fa-IR" dirty="0">
                <a:latin typeface="Tahoma"/>
                <a:cs typeface="Tahoma"/>
              </a:rPr>
              <a:t> حالت در هر سه کمیت است.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تخلخلِ الگوی A</a:t>
            </a:r>
            <a:r>
              <a:rPr lang="fa-IR" dirty="0">
                <a:latin typeface="Tahoma"/>
                <a:cs typeface="Tahoma"/>
              </a:rPr>
              <a:t> (حفره‌ها در سطح خارجی) همچون </a:t>
            </a:r>
            <a:r>
              <a:rPr b="1" lang="fa-IR" dirty="0">
                <a:latin typeface="Tahoma"/>
                <a:cs typeface="Tahoma"/>
              </a:rPr>
              <a:t>سدِ حرارتی</a:t>
            </a:r>
            <a:r>
              <a:rPr lang="fa-IR" dirty="0">
                <a:latin typeface="Tahoma"/>
                <a:cs typeface="Tahoma"/>
              </a:rPr>
              <a:t> عمل کرده و دمای سطح خارجی را تا حدود </a:t>
            </a:r>
            <a:r>
              <a:rPr b="1" lang="fa-IR" dirty="0">
                <a:latin typeface="Tahoma"/>
                <a:cs typeface="Tahoma"/>
              </a:rPr>
              <a:t>۸ برابر</a:t>
            </a:r>
            <a:r>
              <a:rPr lang="fa-IR" dirty="0">
                <a:latin typeface="Tahoma"/>
                <a:cs typeface="Tahoma"/>
              </a:rPr>
              <a:t> کاهش می‌دهد.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نکته: الگوی تخلخلِ A </a:t>
            </a:r>
            <a:r>
              <a:rPr b="1" lang="fa-IR" dirty="0">
                <a:latin typeface="Tahoma"/>
                <a:cs typeface="Tahoma"/>
              </a:rPr>
              <a:t>علامتِ</a:t>
            </a:r>
            <a:r>
              <a:rPr lang="fa-IR" dirty="0">
                <a:latin typeface="Tahoma"/>
                <a:cs typeface="Tahoma"/>
              </a:rPr>
              <a:t> تنشِ محیطیِ سطح داخلی را نیز تغییر می‌دهد.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۴ — برهم‌کنشِ هم‌افزای گرافن و تخلخل</a:t>
            </a:r>
          </a:p>
        </p:txBody>
      </p:sp>
      <p:pic>
        <p:nvPicPr>
          <p:cNvPr descr="c:/Users/InfosaicUser/Desktop/MSc/Lord-Shulman-theory-thermoelastic-cylinder/claude/figures_ch4_color/matrix25_T_x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60600" y="1193800"/>
            <a:ext cx="4635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۴ — توصیهٔ طراحی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ترکیبِ </a:t>
                </a:r>
                <a:r>
                  <a:rPr b="1" lang="fa-IR" dirty="0">
                    <a:latin typeface="Tahoma"/>
                    <a:cs typeface="Tahoma"/>
                  </a:rPr>
                  <a:t>گرافنِ V</a:t>
                </a:r>
                <a:r>
                  <a:rPr lang="fa-IR" dirty="0">
                    <a:latin typeface="Tahoma"/>
                    <a:cs typeface="Tahoma"/>
                  </a:rPr>
                  <a:t> (رسانا رو به منبع حرارت) با </a:t>
                </a:r>
                <a:r>
                  <a:rPr b="1" lang="fa-IR" dirty="0">
                    <a:latin typeface="Tahoma"/>
                    <a:cs typeface="Tahoma"/>
                  </a:rPr>
                  <a:t>تخلخلِ A</a:t>
                </a:r>
                <a:r>
                  <a:rPr lang="fa-IR" dirty="0">
                    <a:latin typeface="Tahoma"/>
                    <a:cs typeface="Tahoma"/>
                  </a:rPr>
                  <a:t> (عایق رو به محیط) </a:t>
                </a:r>
                <a:r>
                  <a:rPr b="1" lang="fa-IR" dirty="0">
                    <a:latin typeface="Tahoma"/>
                    <a:cs typeface="Tahoma"/>
                  </a:rPr>
                  <a:t>هم‌افزا</a:t>
                </a:r>
                <a:r>
                  <a:rPr lang="fa-IR" dirty="0">
                    <a:latin typeface="Tahoma"/>
                    <a:cs typeface="Tahoma"/>
                  </a:rPr>
                  <a:t> است.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دمای سطح خارجی تا حدود </a:t>
                </a:r>
                <a:r>
                  <a:rPr b="1" lang="fa-IR" dirty="0">
                    <a:latin typeface="Tahoma"/>
                    <a:cs typeface="Tahoma"/>
                  </a:rPr>
                  <a:t>۲۶ برابر</a:t>
                </a:r>
                <a:r>
                  <a:rPr lang="fa-IR" dirty="0">
                    <a:latin typeface="Tahoma"/>
                    <a:cs typeface="Tahoma"/>
                  </a:rPr>
                  <a:t> کاهش می‌یابد، در ترازِ تنشِ ملایم.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ماتریسِ کاملِ ۵×۵ نشان می‌دهد الگوهای آینه‌ای می‌توانند:</a:t>
                </a:r>
              </a:p>
              <a:p>
                <a:pPr lvl="1" rtl="1" algn="r"/>
                <a:r>
                  <a:rPr b="1" lang="fa-IR" dirty="0">
                    <a:latin typeface="Tahoma"/>
                    <a:cs typeface="Tahoma"/>
                  </a:rPr>
                  <a:t>هم‌افزا</a:t>
                </a:r>
                <a:r>
                  <a:rPr lang="fa-IR" dirty="0">
                    <a:latin typeface="Tahoma"/>
                    <a:cs typeface="Tahoma"/>
                  </a:rPr>
                  <a:t> باشند: V-گرافن با A-تخلخل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  <m:r>
                      <m:t>0.034</m:t>
                    </m:r>
                  </m:oMath>
                </a14:m>
              </a:p>
              <a:p>
                <a:pPr lvl="1" rtl="1" algn="r"/>
                <a:r>
                  <a:rPr lang="fa-IR" dirty="0">
                    <a:latin typeface="Tahoma"/>
                    <a:cs typeface="Tahoma"/>
                  </a:rPr>
                  <a:t>یا </a:t>
                </a:r>
                <a:r>
                  <a:rPr b="1" lang="fa-IR" dirty="0">
                    <a:latin typeface="Tahoma"/>
                    <a:cs typeface="Tahoma"/>
                  </a:rPr>
                  <a:t>خنثی‌کننده</a:t>
                </a:r>
                <a:r>
                  <a:rPr lang="fa-IR" dirty="0">
                    <a:latin typeface="Tahoma"/>
                    <a:cs typeface="Tahoma"/>
                  </a:rPr>
                  <a:t>: V-گرافن با V-تخلخل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  <m:r>
                      <m:t>0.692</m:t>
                    </m:r>
                  </m:oMath>
                </a14:m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پس </a:t>
                </a:r>
                <a:r>
                  <a:rPr b="1" lang="fa-IR" dirty="0">
                    <a:latin typeface="Tahoma"/>
                    <a:cs typeface="Tahoma"/>
                  </a:rPr>
                  <a:t>هم‌راستایی یا تقابلِ دو الگو</a:t>
                </a:r>
                <a:r>
                  <a:rPr lang="fa-IR" dirty="0">
                    <a:latin typeface="Tahoma"/>
                    <a:cs typeface="Tahoma"/>
                  </a:rPr>
                  <a:t> عاملِ تعیین‌کننده است — نه صرفاً انتخابِ یک الگوی «خوب».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۵ — کسر وزنی و آستانهٔ پرکولاسیون</a:t>
            </a:r>
          </a:p>
        </p:txBody>
      </p:sp>
      <p:pic>
        <p:nvPicPr>
          <p:cNvPr descr="c:/Users/InfosaicUser/Desktop/MSc/Lord-Shulman-theory-thermoelastic-cylinder/claude/figures_ch4_color/D_wt_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۵ — تفسیر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آستانهٔ </a:t>
            </a:r>
            <a:r>
              <a:rPr b="1" lang="fa-IR" dirty="0">
                <a:latin typeface="Tahoma"/>
                <a:cs typeface="Tahoma"/>
              </a:rPr>
              <a:t>پرکولاسیون</a:t>
            </a:r>
            <a:r>
              <a:rPr lang="fa-IR" dirty="0">
                <a:latin typeface="Tahoma"/>
                <a:cs typeface="Tahoma"/>
              </a:rPr>
              <a:t> در حدود کسر وزنیِ </a:t>
            </a:r>
            <a:r>
              <a:rPr b="1" lang="fa-IR" dirty="0">
                <a:latin typeface="Tahoma"/>
                <a:cs typeface="Tahoma"/>
              </a:rPr>
              <a:t>۱ درصد</a:t>
            </a:r>
            <a:r>
              <a:rPr lang="fa-IR" dirty="0">
                <a:latin typeface="Tahoma"/>
                <a:cs typeface="Tahoma"/>
              </a:rPr>
              <a:t>: جداره از رفتارِ «عایق حرارتی» به «رسانای حرارتی» گذر می‌کند.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افزودن گرافن بیش از آن، نفوذِ حرارتی را تنها به‌صورت </a:t>
            </a:r>
            <a:r>
              <a:rPr b="1" lang="fa-IR" dirty="0">
                <a:latin typeface="Tahoma"/>
                <a:cs typeface="Tahoma"/>
              </a:rPr>
              <a:t>هموار</a:t>
            </a:r>
            <a:r>
              <a:rPr lang="fa-IR" dirty="0">
                <a:latin typeface="Tahoma"/>
                <a:cs typeface="Tahoma"/>
              </a:rPr>
              <a:t> بهبود می‌دهد اما عمدتاً </a:t>
            </a:r>
            <a:r>
              <a:rPr b="1" lang="fa-IR" dirty="0">
                <a:latin typeface="Tahoma"/>
                <a:cs typeface="Tahoma"/>
              </a:rPr>
              <a:t>تنش‌های حرارتی را می‌افزاید</a:t>
            </a:r>
            <a:r>
              <a:rPr lang="fa-IR" dirty="0">
                <a:latin typeface="Tahoma"/>
                <a:cs typeface="Tahoma"/>
              </a:rPr>
              <a:t> (دو برابر شدنِ تنش در ۸ درصد).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نسبت‌های ابعادیِ پلاکت در کسر وزنیِ مرجع اثری </a:t>
            </a:r>
            <a:r>
              <a:rPr b="1" lang="fa-IR" dirty="0">
                <a:latin typeface="Tahoma"/>
                <a:cs typeface="Tahoma"/>
              </a:rPr>
              <a:t>درجهٔ دوم</a:t>
            </a:r>
            <a:r>
              <a:rPr lang="fa-IR" dirty="0">
                <a:latin typeface="Tahoma"/>
                <a:cs typeface="Tahoma"/>
              </a:rPr>
              <a:t> دارند (تغییر تنش کمتر از ۲ درصد)؛ تنها در کسرهای وزنیِ بالا نسبتِ عرض به ضخامت غالب می‌شود.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۶ — شوک حرارتیِ گاوسی</a:t>
            </a:r>
          </a:p>
        </p:txBody>
      </p:sp>
      <p:pic>
        <p:nvPicPr>
          <p:cNvPr descr="c:/Users/InfosaicUser/Desktop/MSc/Lord-Shulman-theory-thermoelastic-cylinder/claude/figures_ch4_color/M_gauss_sho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۶ — چرا تئوری تعمیم‌یافته لازم است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در بارگذاریِ </a:t>
            </a:r>
            <a:r>
              <a:rPr b="1" lang="fa-IR" dirty="0">
                <a:latin typeface="Tahoma"/>
                <a:cs typeface="Tahoma"/>
              </a:rPr>
              <a:t>پالسِ گاوسی</a:t>
            </a:r>
            <a:r>
              <a:rPr lang="fa-IR" dirty="0">
                <a:latin typeface="Tahoma"/>
                <a:cs typeface="Tahoma"/>
              </a:rPr>
              <a:t>، تئوریِ کلاسیکِ فوریه بیشینهٔ دما را حدود </a:t>
            </a:r>
            <a:r>
              <a:rPr b="1" lang="fa-IR" dirty="0">
                <a:latin typeface="Tahoma"/>
                <a:cs typeface="Tahoma"/>
              </a:rPr>
              <a:t>۲٫۵ برابر کم‌برآورد</a:t>
            </a:r>
            <a:r>
              <a:rPr lang="fa-IR" dirty="0">
                <a:latin typeface="Tahoma"/>
                <a:cs typeface="Tahoma"/>
              </a:rPr>
              <a:t> می‌کند.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این یکی از </a:t>
            </a:r>
            <a:r>
              <a:rPr b="1" lang="fa-IR" dirty="0">
                <a:latin typeface="Tahoma"/>
                <a:cs typeface="Tahoma"/>
              </a:rPr>
              <a:t>قوی‌ترین استدلال‌های</a:t>
            </a:r>
            <a:r>
              <a:rPr lang="fa-IR" dirty="0">
                <a:latin typeface="Tahoma"/>
                <a:cs typeface="Tahoma"/>
              </a:rPr>
              <a:t> این پژوهش به سودِ تئوریِ تعمیم‌یافته است: در شوکِ کوتاه‌مدت، مدلِ کلاسیک </a:t>
            </a:r>
            <a:r>
              <a:rPr b="1" lang="fa-IR" dirty="0">
                <a:latin typeface="Tahoma"/>
                <a:cs typeface="Tahoma"/>
              </a:rPr>
              <a:t>غیرمحافظه‌کارانه</a:t>
            </a:r>
            <a:r>
              <a:rPr lang="fa-IR" dirty="0">
                <a:latin typeface="Tahoma"/>
                <a:cs typeface="Tahoma"/>
              </a:rPr>
              <a:t> است.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حلِ کاملاً ممزوج، موجِ حرارتی را حدود </a:t>
            </a:r>
            <a:r>
              <a:rPr b="1" lang="fa-IR" dirty="0">
                <a:latin typeface="Tahoma"/>
                <a:cs typeface="Tahoma"/>
              </a:rPr>
              <a:t>۱ درصد میرا</a:t>
            </a:r>
            <a:r>
              <a:rPr lang="fa-IR" dirty="0">
                <a:latin typeface="Tahoma"/>
                <a:cs typeface="Tahoma"/>
              </a:rPr>
              <a:t> می‌کند (میرایی ترموالاستیک)؛ مدل‌های غیرممزوج دقیقاً در جبهه‌های موج غیرمحافظه‌کارانه‌اند.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 ۷ — مقایسهٔ چهار تئوری</a:t>
            </a:r>
          </a:p>
        </p:txBody>
      </p:sp>
      <p:pic>
        <p:nvPicPr>
          <p:cNvPr descr="c:/Users/InfosaicUser/Desktop/MSc/Lord-Shulman-theory-thermoelastic-cylinder/claude/figures_ch4_color/T3_theor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33600" y="1193800"/>
            <a:ext cx="4876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نوآوری‌های پژوهش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حلِ </a:t>
                </a:r>
                <a:r>
                  <a:rPr b="1" lang="fa-IR" dirty="0">
                    <a:latin typeface="Tahoma"/>
                    <a:cs typeface="Tahoma"/>
                  </a:rPr>
                  <a:t>کاملاً ممزوجِ</a:t>
                </a:r>
                <a:r>
                  <a:rPr lang="fa-IR" dirty="0">
                    <a:latin typeface="Tahoma"/>
                    <a:cs typeface="Tahoma"/>
                  </a:rPr>
                  <a:t> لرد-شولمن برای استوانهٔ </a:t>
                </a:r>
                <a:r>
                  <a:rPr b="1" lang="fa-IR" dirty="0">
                    <a:latin typeface="Tahoma"/>
                    <a:cs typeface="Tahoma"/>
                  </a:rPr>
                  <a:t>چندلایهٔ متخلخلِ گرافنی</a:t>
                </a:r>
                <a:r>
                  <a:rPr lang="fa-IR" dirty="0">
                    <a:latin typeface="Tahoma"/>
                    <a:cs typeface="Tahoma"/>
                  </a:rPr>
                  <a:t> به روش دیفرانسیل کوادریچرِ لایه‌ایِ دوبعدی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r</m:t>
                    </m:r>
                    <m:r>
                      <m:rPr>
                        <m:sty m:val="p"/>
                      </m:rPr>
                      <m:t>,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شناساییِ </a:t>
                </a:r>
                <a:r>
                  <a:rPr b="1" lang="fa-IR" dirty="0">
                    <a:latin typeface="Tahoma"/>
                    <a:cs typeface="Tahoma"/>
                  </a:rPr>
                  <a:t>برهم‌کنشِ هم‌افزای V-گرافن و A-تخلخل</a:t>
                </a:r>
                <a:r>
                  <a:rPr lang="fa-IR" dirty="0">
                    <a:latin typeface="Tahoma"/>
                    <a:cs typeface="Tahoma"/>
                  </a:rPr>
                  <a:t> و ارائهٔ </a:t>
                </a:r>
                <a:r>
                  <a:rPr b="1" lang="fa-IR" dirty="0">
                    <a:latin typeface="Tahoma"/>
                    <a:cs typeface="Tahoma"/>
                  </a:rPr>
                  <a:t>ماتریس کامل ۵×۵</a:t>
                </a:r>
                <a:r>
                  <a:rPr lang="fa-IR" dirty="0">
                    <a:latin typeface="Tahoma"/>
                    <a:cs typeface="Tahoma"/>
                  </a:rPr>
                  <a:t> که در مراجع پیشین همتایی ندارد.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گزارشِ رفتارِ </a:t>
                </a:r>
                <a:r>
                  <a:rPr b="1" lang="fa-IR" dirty="0">
                    <a:latin typeface="Tahoma"/>
                    <a:cs typeface="Tahoma"/>
                  </a:rPr>
                  <a:t>«قله-قعر»</a:t>
                </a:r>
                <a:r>
                  <a:rPr lang="fa-IR" dirty="0">
                    <a:latin typeface="Tahoma"/>
                    <a:cs typeface="Tahoma"/>
                  </a:rPr>
                  <a:t> و آینه‌ایِ الگوها و پیوندِ آن با سرشتِ موجیِ هدایت.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سه مطالعهٔ گسترشیِ روش‌شناختی: </a:t>
                </a:r>
                <a:r>
                  <a:rPr b="1" lang="fa-IR" dirty="0">
                    <a:latin typeface="Tahoma"/>
                    <a:cs typeface="Tahoma"/>
                  </a:rPr>
                  <a:t>شش انتگرال‌گیر زمانی</a:t>
                </a:r>
                <a:r>
                  <a:rPr lang="fa-IR" dirty="0">
                    <a:latin typeface="Tahoma"/>
                    <a:cs typeface="Tahoma"/>
                  </a:rPr>
                  <a:t>، </a:t>
                </a:r>
                <a:r>
                  <a:rPr b="1" lang="fa-IR" dirty="0">
                    <a:latin typeface="Tahoma"/>
                    <a:cs typeface="Tahoma"/>
                  </a:rPr>
                  <a:t>چهار روشِ گسسته‌سازیِ مکانی</a:t>
                </a:r>
                <a:r>
                  <a:rPr lang="fa-IR" dirty="0">
                    <a:latin typeface="Tahoma"/>
                    <a:cs typeface="Tahoma"/>
                  </a:rPr>
                  <a:t> و </a:t>
                </a:r>
                <a:r>
                  <a:rPr b="1" lang="fa-IR" dirty="0">
                    <a:latin typeface="Tahoma"/>
                    <a:cs typeface="Tahoma"/>
                  </a:rPr>
                  <a:t>چهار تئوریِ ترموالاستیسیته</a:t>
                </a:r>
                <a:r>
                  <a:rPr lang="fa-IR" dirty="0">
                    <a:latin typeface="Tahoma"/>
                    <a:cs typeface="Tahoma"/>
                  </a:rPr>
                  <a:t>.</a:t>
                </a:r>
              </a:p>
              <a:p>
                <a:pPr lvl="0" rtl="1" algn="r"/>
                <a:r>
                  <a:rPr lang="fa-IR" dirty="0">
                    <a:latin typeface="Tahoma"/>
                    <a:cs typeface="Tahoma"/>
                  </a:rPr>
                  <a:t>صحت‌سنجیِ </a:t>
                </a:r>
                <a:r>
                  <a:rPr b="1" lang="fa-IR" dirty="0">
                    <a:latin typeface="Tahoma"/>
                    <a:cs typeface="Tahoma"/>
                  </a:rPr>
                  <a:t>کمّیِ</a:t>
                </a:r>
                <a:r>
                  <a:rPr lang="fa-IR" dirty="0">
                    <a:latin typeface="Tahoma"/>
                    <a:cs typeface="Tahoma"/>
                  </a:rPr>
                  <a:t> موجِ صوتِ دوم در برابر حلِ دقیقِ تحلیلی.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نتیجه‌گیری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1" algn="r"/>
            <a:r>
              <a:rPr lang="fa-IR" dirty="0">
                <a:latin typeface="Tahoma"/>
                <a:cs typeface="Tahoma"/>
              </a:rPr>
              <a:t>برای تحلیلِ دقیقِ </a:t>
            </a:r>
            <a:r>
              <a:rPr b="1" lang="fa-IR" dirty="0">
                <a:latin typeface="Tahoma"/>
                <a:cs typeface="Tahoma"/>
              </a:rPr>
              <a:t>شوکِ حرارتیِ گذرا</a:t>
            </a:r>
            <a:r>
              <a:rPr lang="fa-IR" dirty="0">
                <a:latin typeface="Tahoma"/>
                <a:cs typeface="Tahoma"/>
              </a:rPr>
              <a:t>، به‌کارگیریِ تئوریِ تعمیم‌یافتهٔ لرد-شولمن </a:t>
            </a:r>
            <a:r>
              <a:rPr b="1" lang="fa-IR" dirty="0">
                <a:latin typeface="Tahoma"/>
                <a:cs typeface="Tahoma"/>
              </a:rPr>
              <a:t>ضروری</a:t>
            </a:r>
            <a:r>
              <a:rPr lang="fa-IR" dirty="0">
                <a:latin typeface="Tahoma"/>
                <a:cs typeface="Tahoma"/>
              </a:rPr>
              <a:t> است؛ تئوریِ کلاسیک تنش‌ها و دمای گذرا را به‌شدت کم‌برآورد می‌کند.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از دیدگاهِ طراحی، </a:t>
            </a:r>
            <a:r>
              <a:rPr b="1" lang="fa-IR" dirty="0">
                <a:latin typeface="Tahoma"/>
                <a:cs typeface="Tahoma"/>
              </a:rPr>
              <a:t>هم‌راستاسازیِ الگوهای گرافن و تخلخل (ترکیب V-A)</a:t>
            </a:r>
            <a:r>
              <a:rPr lang="fa-IR" dirty="0">
                <a:latin typeface="Tahoma"/>
                <a:cs typeface="Tahoma"/>
              </a:rPr>
              <a:t> مطلوب‌ترین رفتارِ حرارتی را با کمترین جریمهٔ تنش فراهم می‌آورد.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انتخابِ الگو باید </a:t>
            </a:r>
            <a:r>
              <a:rPr b="1" lang="fa-IR" dirty="0">
                <a:latin typeface="Tahoma"/>
                <a:cs typeface="Tahoma"/>
              </a:rPr>
              <a:t>هم‌زمان</a:t>
            </a:r>
            <a:r>
              <a:rPr lang="fa-IR" dirty="0">
                <a:latin typeface="Tahoma"/>
                <a:cs typeface="Tahoma"/>
              </a:rPr>
              <a:t> از منظرِ دما و تنش سنجیده شود.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روشِ </a:t>
            </a:r>
            <a:r>
              <a:rPr b="1" lang="fa-IR" dirty="0">
                <a:latin typeface="Tahoma"/>
                <a:cs typeface="Tahoma"/>
              </a:rPr>
              <a:t>DQM لایه‌ای + نیومارک</a:t>
            </a:r>
            <a:r>
              <a:rPr lang="fa-IR" dirty="0">
                <a:latin typeface="Tahoma"/>
                <a:cs typeface="Tahoma"/>
              </a:rPr>
              <a:t> ابزاری کارآمد و صحت‌سنجی‌شده برای این‌گونه تحلیل‌های ترموالاستیکِ ممزوج فراهم می‌کند.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محدودیت‌ها و پیشنهادها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b="1" lang="fa-IR" dirty="0">
                <a:latin typeface="Tahoma"/>
                <a:cs typeface="Tahoma"/>
              </a:rPr>
              <a:t>محدودیت‌ها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خواصِ مادی </a:t>
            </a:r>
            <a:r>
              <a:rPr b="1" lang="fa-IR" dirty="0">
                <a:latin typeface="Tahoma"/>
                <a:cs typeface="Tahoma"/>
              </a:rPr>
              <a:t>مستقل از دما</a:t>
            </a:r>
            <a:r>
              <a:rPr lang="fa-IR" dirty="0">
                <a:latin typeface="Tahoma"/>
                <a:cs typeface="Tahoma"/>
              </a:rPr>
              <a:t> فرض شده‌اند.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مدلِ </a:t>
            </a:r>
            <a:r>
              <a:rPr b="1" lang="fa-IR" dirty="0">
                <a:latin typeface="Tahoma"/>
                <a:cs typeface="Tahoma"/>
              </a:rPr>
              <a:t>الاستیکِ خطی</a:t>
            </a:r>
            <a:r>
              <a:rPr lang="fa-IR" dirty="0">
                <a:latin typeface="Tahoma"/>
                <a:cs typeface="Tahoma"/>
              </a:rPr>
              <a:t> بدون معیارِ آسیب/شکست.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پیوندِ </a:t>
            </a:r>
            <a:r>
              <a:rPr b="1" lang="fa-IR" dirty="0">
                <a:latin typeface="Tahoma"/>
                <a:cs typeface="Tahoma"/>
              </a:rPr>
              <a:t>کاملِ</a:t>
            </a:r>
            <a:r>
              <a:rPr lang="fa-IR" dirty="0">
                <a:latin typeface="Tahoma"/>
                <a:cs typeface="Tahoma"/>
              </a:rPr>
              <a:t> بین‌لایه‌ای (بدون مقاومتِ حرارتیِ فصل‌مشترک).</a:t>
            </a:r>
          </a:p>
          <a:p>
            <a:pPr lvl="0" indent="0" marL="0" rtl="1" algn="r">
              <a:buNone/>
            </a:pPr>
            <a:r>
              <a:rPr b="1" lang="fa-IR" dirty="0">
                <a:latin typeface="Tahoma"/>
                <a:cs typeface="Tahoma"/>
              </a:rPr>
              <a:t>پیشنهادها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لحاظ‌کردنِ وابستگیِ خواص به دما و رفتارِ </a:t>
            </a:r>
            <a:r>
              <a:rPr b="1" lang="fa-IR" dirty="0">
                <a:latin typeface="Tahoma"/>
                <a:cs typeface="Tahoma"/>
              </a:rPr>
              <a:t>غیرخطی/آسیب</a:t>
            </a:r>
            <a:r>
              <a:rPr lang="fa-IR" dirty="0">
                <a:latin typeface="Tahoma"/>
                <a:cs typeface="Tahoma"/>
              </a:rPr>
              <a:t>.</a:t>
            </a:r>
          </a:p>
          <a:p>
            <a:pPr lvl="0" rtl="1" algn="r"/>
            <a:r>
              <a:rPr lang="fa-IR" dirty="0">
                <a:latin typeface="Tahoma"/>
                <a:cs typeface="Tahoma"/>
              </a:rPr>
              <a:t>افزودنِ </a:t>
            </a:r>
            <a:r>
              <a:rPr b="1" lang="fa-IR" dirty="0">
                <a:latin typeface="Tahoma"/>
                <a:cs typeface="Tahoma"/>
              </a:rPr>
              <a:t>مقاومتِ حرارتیِ فصل‌مشترک</a:t>
            </a:r>
            <a:r>
              <a:rPr lang="fa-IR" dirty="0">
                <a:latin typeface="Tahoma"/>
                <a:cs typeface="Tahoma"/>
              </a:rPr>
              <a:t> میان لایه‌ها.</a:t>
            </a:r>
          </a:p>
          <a:p>
            <a:pPr lvl="0" rtl="1" algn="r"/>
            <a:r>
              <a:rPr b="1" lang="fa-IR" dirty="0">
                <a:latin typeface="Tahoma"/>
                <a:cs typeface="Tahoma"/>
              </a:rPr>
              <a:t>صحت‌سنجیِ تجربی</a:t>
            </a:r>
            <a:r>
              <a:rPr lang="fa-IR" dirty="0">
                <a:latin typeface="Tahoma"/>
                <a:cs typeface="Tahoma"/>
              </a:rPr>
              <a:t> و تدوینِ نمودارِ طراحیِ مهندسی بر پایهٔ یافتهٔ هم‌افزاییِ V-A.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با تشکر از توجه شما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 rtl="1" algn="r">
              <a:buNone/>
            </a:pPr>
            <a:r>
              <a:rPr lang="fa-IR" dirty="0">
                <a:latin typeface="Tahoma"/>
                <a:cs typeface="Tahoma"/>
              </a:rPr>
              <a:t>پرسش و پاسخ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تحلیل ترموالاستیک استوانه‌های متخلخلِ تقویت‌شده با پلاکت‌های گرافنی تحت بارِ ترمو-مکانیکی با استفاده از تئوری لرد-شولمن</dc:title>
  <dc:creator>نگارنده: ‹نام دانشجو› | استاد راهنما: ‹نام استاد راهنما›</dc:creator>
  <cp:keywords/>
  <dcterms:created xsi:type="dcterms:W3CDTF">2026-09-26T15:17:27Z</dcterms:created>
  <dcterms:modified xsi:type="dcterms:W3CDTF">2026-09-26T15:17:27Z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جلسهٔ دفاع کارشناسی ارشد — مهندسی مکانیک</vt:lpwstr>
  </property>
</Properties>
</file>