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notesMaster" Target="notesMasters/notesMaster1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و ۱-۶. با کاربردهای ملموس شروع کنید؛ هنوز وارد نظریه نشوید.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و ۱-۶.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بندهای ۱-۱ (بند چهارم) و ۱-۳. لرد–شولمن را فقط یکی از تئوری‌های تعمیم‌یافته معرفی کنید؛ مقایسهٔ تئوری‌ها در پیشینه و در نتیجهٔ ۷ می‌آید.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۱، بند ۱-۴. این چهار پرسش را در بخش نتایج دوباره به‌ترتیب پاسخ می‌دهید.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۲-۲. این اسلاید توجیه می‌کند چرا مسئله را در صفحهٔ (r,z) و نه با تئوری پوسته حل کرده‌اید.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شکل ۲-۱ پایان‌نامه. فقط جایگاه نظریه‌ها را نشان دهید؛ دربارهٔ برتری هیچ‌کدام صحبت نکنید.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بندهای ۲-۳ تا ۲-۶ (خلاصه‌شده). ردیف‌های ۱ و ۲: روش DQM + نیومارک و هدایت هذلولوی در استوانه. ردیف‌های ۳ تا ۵: گرافن و تخلخل (مدل سلول‌باز مبنای مدل تخلخل شماست). ردیف‌های ۶ و ۷: ترموالاستیسیتهٔ تعمیم‌یافته؛ [۳]، [۶۸]، [۷۰] نزدیک‌ترین مرجع‌ها و مبنای معادلات (فصل ۳) و قرارداد بی‌بعدسازی (فصل ۴) هستند. اگر داور فهرست کامل‌تر خواست، فصل ۲ را ارجاع دهید. اگر پرسید «تفاوت شما با کار حیدرپور چیست؟» پاسخ در اسلایدهای بعد است: استوانهٔ جدارضخیم، گرافن و تخلخل هم‌زمان، ماتریس ۵×۵.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۲-۷. «تا آنجا که در این مرور بررسی شد» را بگویید؛ ادعای مطلق نکنید.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منبع: فصل ۲، بند ۲-۷ (بند پایانی). هر مورد این فهرست یکی از شکاف‌های اسلاید قبل را پاسخ می‌دهد.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تأکید: </a:t>
            </a:r>
            <a:r>
              <a:rPr/>
              <a:t>\tau^*=0.15</a:t>
            </a:r>
            <a:r>
              <a:rPr/>
              <a:t> پارامتر بی‌بعدِ اصلی است؛ </a:t>
            </a:r>
            <a:r>
              <a:rPr/>
              <a:t>\tau_0=418</a:t>
            </a:r>
            <a:r>
              <a:rPr/>
              <a:t> s مقیاس‌گذاریِ جدارهٔ ۰٫۵ متری است، نه خاصیتِ اندازه‌گیری‌شدهٔ یک ماده. اگر پرسیدند، بگویید این یک مطالعهٔ پارامتریِ بی‌بعد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تأکید کنید V و A آینهٔ یکدیگرند — این نکته بعداً در یافتهٔ هم‌افزایی کلیدی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فقط همین یک معادله را نشان دهید. اگر جزئیات استخراج را خواستند، اسلاید پشتیبان (فصل ۳) را باز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اگر زمان کم است، این اسلاید و اسلاید قبل را حذف یا به پشتیبان ببرید.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مهم‌ترین سپرِ دفاعی شماست. آرام و با اعتمادبه‌نفس بخوانید.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جابجایی شعاعی بی‌بعد سطح داخلی در برابر زمان؛ حل حاضر، مرجع و ANSYS. اختلاف ۰٫۱ تا ۰٫۲٪.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نشانگرها حل حاضر و خط پیوسته حل دقیق سری بسل است؛ خطای </a:t>
            </a:r>
            <a:r>
              <a:rPr/>
              <a:t>10^{-5}</a:t>
            </a:r>
            <a:r>
              <a:rPr/>
              <a:t> تا </a:t>
            </a:r>
            <a:r>
              <a:rPr/>
              <a:t>10^{-7}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اگر پرسیدند «چرا مرجع تحلیلی و نه مقالهٔ چاپ‌شده؟» بگویید: حل دقیق برای همین هندسه استخراج شده، پس مقایسه بدون خطای رقمی‌سازیِ شکلِ مرجع و بدون اختلاف در فرضیات انجام می‌شود. پیشانی موج با دقت کمتر از یک فاصلهٔ شبکه ردیابی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راستای محوری راستای مقیدکننده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مهم‌ترین یافتهٔ پایان‌نامه است. اینجا سرعت را کم کنید، جمله‌بندی را دقیق بگویید و توصیهٔ طراحی را صریح اعلام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این یافته را با ذکر شرایط (پالس گاوسی) و بدون مبالغه بیان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  <a:lvl2pPr marL="3429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2pPr>
            <a:lvl3pPr marL="6858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3pPr>
            <a:lvl4pPr marL="10287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4pPr>
            <a:lvl5pPr marL="13716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5pPr>
            <a:lvl6pPr marL="17145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6pPr>
            <a:lvl7pPr marL="20574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7pPr>
            <a:lvl8pPr marL="24003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8pPr>
            <a:lvl9pPr marL="2743200" indent="0" algn="ctr">
              <a:buNone/>
              <a:defRPr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9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  <a:lvl2pPr marL="342900" indent="0">
              <a:buNone/>
              <a:defRPr sz="13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2pPr>
            <a:lvl3pPr marL="685800" indent="0">
              <a:buNone/>
              <a:defRPr sz="12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3pPr>
            <a:lvl4pPr marL="10287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4pPr>
            <a:lvl5pPr marL="13716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5pPr>
            <a:lvl6pPr marL="17145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6pPr>
            <a:lvl7pPr marL="20574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7pPr>
            <a:lvl8pPr marL="24003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8pPr>
            <a:lvl9pPr marL="2743200" indent="0">
              <a:buNone/>
              <a:defRPr sz="105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 lang="fa-IR" dirty="0">
                <a:latin typeface="Tahoma"/>
                <a:cs typeface="Tahoma"/>
              </a:defRPr>
            </a:lvl1pPr>
            <a:lvl2pPr>
              <a:defRPr sz="1800" lang="fa-IR" dirty="0">
                <a:latin typeface="Tahoma"/>
                <a:cs typeface="Tahoma"/>
              </a:defRPr>
            </a:lvl2pPr>
            <a:lvl3pPr>
              <a:defRPr sz="1500" lang="fa-IR" dirty="0">
                <a:latin typeface="Tahoma"/>
                <a:cs typeface="Tahoma"/>
              </a:defRPr>
            </a:lvl3pPr>
            <a:lvl4pPr>
              <a:defRPr sz="1350" lang="fa-IR" dirty="0">
                <a:latin typeface="Tahoma"/>
                <a:cs typeface="Tahoma"/>
              </a:defRPr>
            </a:lvl4pPr>
            <a:lvl5pPr>
              <a:defRPr sz="1350" lang="fa-IR" dirty="0">
                <a:latin typeface="Tahoma"/>
                <a:cs typeface="Tahoma"/>
              </a:defRPr>
            </a:lvl5pPr>
            <a:lvl6pPr>
              <a:defRPr sz="1350" lang="fa-IR" dirty="0">
                <a:latin typeface="Tahoma"/>
                <a:cs typeface="Tahoma"/>
              </a:defRPr>
            </a:lvl6pPr>
            <a:lvl7pPr>
              <a:defRPr sz="1350" lang="fa-IR" dirty="0">
                <a:latin typeface="Tahoma"/>
                <a:cs typeface="Tahoma"/>
              </a:defRPr>
            </a:lvl7pPr>
            <a:lvl8pPr>
              <a:defRPr sz="1350" lang="fa-IR" dirty="0">
                <a:latin typeface="Tahoma"/>
                <a:cs typeface="Tahoma"/>
              </a:defRPr>
            </a:lvl8pPr>
            <a:lvl9pPr>
              <a:defRPr sz="135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 lang="fa-IR" dirty="0">
                <a:latin typeface="Tahoma"/>
                <a:cs typeface="Tahoma"/>
              </a:defRPr>
            </a:lvl1pPr>
            <a:lvl2pPr>
              <a:defRPr sz="1800" lang="fa-IR" dirty="0">
                <a:latin typeface="Tahoma"/>
                <a:cs typeface="Tahoma"/>
              </a:defRPr>
            </a:lvl2pPr>
            <a:lvl3pPr>
              <a:defRPr sz="1500" lang="fa-IR" dirty="0">
                <a:latin typeface="Tahoma"/>
                <a:cs typeface="Tahoma"/>
              </a:defRPr>
            </a:lvl3pPr>
            <a:lvl4pPr>
              <a:defRPr sz="1350" lang="fa-IR" dirty="0">
                <a:latin typeface="Tahoma"/>
                <a:cs typeface="Tahoma"/>
              </a:defRPr>
            </a:lvl4pPr>
            <a:lvl5pPr>
              <a:defRPr sz="1350" lang="fa-IR" dirty="0">
                <a:latin typeface="Tahoma"/>
                <a:cs typeface="Tahoma"/>
              </a:defRPr>
            </a:lvl5pPr>
            <a:lvl6pPr>
              <a:defRPr sz="1350" lang="fa-IR" dirty="0">
                <a:latin typeface="Tahoma"/>
                <a:cs typeface="Tahoma"/>
              </a:defRPr>
            </a:lvl6pPr>
            <a:lvl7pPr>
              <a:defRPr sz="1350" lang="fa-IR" dirty="0">
                <a:latin typeface="Tahoma"/>
                <a:cs typeface="Tahoma"/>
              </a:defRPr>
            </a:lvl7pPr>
            <a:lvl8pPr>
              <a:defRPr sz="1350" lang="fa-IR" dirty="0">
                <a:latin typeface="Tahoma"/>
                <a:cs typeface="Tahoma"/>
              </a:defRPr>
            </a:lvl8pPr>
            <a:lvl9pPr>
              <a:defRPr sz="135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 lang="fa-IR" dirty="0">
                <a:latin typeface="Tahoma"/>
                <a:cs typeface="Tahoma"/>
              </a:defRPr>
            </a:lvl1pPr>
            <a:lvl2pPr marL="342900" indent="0">
              <a:buNone/>
              <a:defRPr sz="1500" b="1" lang="fa-IR" dirty="0">
                <a:latin typeface="Tahoma"/>
                <a:cs typeface="Tahoma"/>
              </a:defRPr>
            </a:lvl2pPr>
            <a:lvl3pPr marL="685800" indent="0">
              <a:buNone/>
              <a:defRPr sz="1350" b="1" lang="fa-IR" dirty="0">
                <a:latin typeface="Tahoma"/>
                <a:cs typeface="Tahoma"/>
              </a:defRPr>
            </a:lvl3pPr>
            <a:lvl4pPr marL="1028700" indent="0">
              <a:buNone/>
              <a:defRPr sz="1200" b="1" lang="fa-IR" dirty="0">
                <a:latin typeface="Tahoma"/>
                <a:cs typeface="Tahoma"/>
              </a:defRPr>
            </a:lvl4pPr>
            <a:lvl5pPr marL="1371600" indent="0">
              <a:buNone/>
              <a:defRPr sz="1200" b="1" lang="fa-IR" dirty="0">
                <a:latin typeface="Tahoma"/>
                <a:cs typeface="Tahoma"/>
              </a:defRPr>
            </a:lvl5pPr>
            <a:lvl6pPr marL="1714500" indent="0">
              <a:buNone/>
              <a:defRPr sz="1200" b="1" lang="fa-IR" dirty="0">
                <a:latin typeface="Tahoma"/>
                <a:cs typeface="Tahoma"/>
              </a:defRPr>
            </a:lvl6pPr>
            <a:lvl7pPr marL="2057400" indent="0">
              <a:buNone/>
              <a:defRPr sz="1200" b="1" lang="fa-IR" dirty="0">
                <a:latin typeface="Tahoma"/>
                <a:cs typeface="Tahoma"/>
              </a:defRPr>
            </a:lvl7pPr>
            <a:lvl8pPr marL="2400300" indent="0">
              <a:buNone/>
              <a:defRPr sz="1200" b="1" lang="fa-IR" dirty="0">
                <a:latin typeface="Tahoma"/>
                <a:cs typeface="Tahoma"/>
              </a:defRPr>
            </a:lvl8pPr>
            <a:lvl9pPr marL="2743200" indent="0">
              <a:buNone/>
              <a:defRPr sz="1200" b="1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 lang="fa-IR" dirty="0">
                <a:latin typeface="Tahoma"/>
                <a:cs typeface="Tahoma"/>
              </a:defRPr>
            </a:lvl1pPr>
            <a:lvl2pPr>
              <a:defRPr sz="1500" lang="fa-IR" dirty="0">
                <a:latin typeface="Tahoma"/>
                <a:cs typeface="Tahoma"/>
              </a:defRPr>
            </a:lvl2pPr>
            <a:lvl3pPr>
              <a:defRPr sz="1350" lang="fa-IR" dirty="0">
                <a:latin typeface="Tahoma"/>
                <a:cs typeface="Tahoma"/>
              </a:defRPr>
            </a:lvl3pPr>
            <a:lvl4pPr>
              <a:defRPr sz="1200" lang="fa-IR" dirty="0">
                <a:latin typeface="Tahoma"/>
                <a:cs typeface="Tahoma"/>
              </a:defRPr>
            </a:lvl4pPr>
            <a:lvl5pPr>
              <a:defRPr sz="1200" lang="fa-IR" dirty="0">
                <a:latin typeface="Tahoma"/>
                <a:cs typeface="Tahoma"/>
              </a:defRPr>
            </a:lvl5pPr>
            <a:lvl6pPr>
              <a:defRPr sz="1200" lang="fa-IR" dirty="0">
                <a:latin typeface="Tahoma"/>
                <a:cs typeface="Tahoma"/>
              </a:defRPr>
            </a:lvl6pPr>
            <a:lvl7pPr>
              <a:defRPr sz="1200" lang="fa-IR" dirty="0">
                <a:latin typeface="Tahoma"/>
                <a:cs typeface="Tahoma"/>
              </a:defRPr>
            </a:lvl7pPr>
            <a:lvl8pPr>
              <a:defRPr sz="1200" lang="fa-IR" dirty="0">
                <a:latin typeface="Tahoma"/>
                <a:cs typeface="Tahoma"/>
              </a:defRPr>
            </a:lvl8pPr>
            <a:lvl9pPr>
              <a:defRPr sz="12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 lang="fa-IR" dirty="0">
                <a:latin typeface="Tahoma"/>
                <a:cs typeface="Tahoma"/>
              </a:defRPr>
            </a:lvl1pPr>
            <a:lvl2pPr marL="342900" indent="0">
              <a:buNone/>
              <a:defRPr sz="1500" b="1" lang="fa-IR" dirty="0">
                <a:latin typeface="Tahoma"/>
                <a:cs typeface="Tahoma"/>
              </a:defRPr>
            </a:lvl2pPr>
            <a:lvl3pPr marL="685800" indent="0">
              <a:buNone/>
              <a:defRPr sz="1350" b="1" lang="fa-IR" dirty="0">
                <a:latin typeface="Tahoma"/>
                <a:cs typeface="Tahoma"/>
              </a:defRPr>
            </a:lvl3pPr>
            <a:lvl4pPr marL="1028700" indent="0">
              <a:buNone/>
              <a:defRPr sz="1200" b="1" lang="fa-IR" dirty="0">
                <a:latin typeface="Tahoma"/>
                <a:cs typeface="Tahoma"/>
              </a:defRPr>
            </a:lvl4pPr>
            <a:lvl5pPr marL="1371600" indent="0">
              <a:buNone/>
              <a:defRPr sz="1200" b="1" lang="fa-IR" dirty="0">
                <a:latin typeface="Tahoma"/>
                <a:cs typeface="Tahoma"/>
              </a:defRPr>
            </a:lvl5pPr>
            <a:lvl6pPr marL="1714500" indent="0">
              <a:buNone/>
              <a:defRPr sz="1200" b="1" lang="fa-IR" dirty="0">
                <a:latin typeface="Tahoma"/>
                <a:cs typeface="Tahoma"/>
              </a:defRPr>
            </a:lvl6pPr>
            <a:lvl7pPr marL="2057400" indent="0">
              <a:buNone/>
              <a:defRPr sz="1200" b="1" lang="fa-IR" dirty="0">
                <a:latin typeface="Tahoma"/>
                <a:cs typeface="Tahoma"/>
              </a:defRPr>
            </a:lvl7pPr>
            <a:lvl8pPr marL="2400300" indent="0">
              <a:buNone/>
              <a:defRPr sz="1200" b="1" lang="fa-IR" dirty="0">
                <a:latin typeface="Tahoma"/>
                <a:cs typeface="Tahoma"/>
              </a:defRPr>
            </a:lvl8pPr>
            <a:lvl9pPr marL="2743200" indent="0">
              <a:buNone/>
              <a:defRPr sz="1200" b="1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 lang="fa-IR" dirty="0">
                <a:latin typeface="Tahoma"/>
                <a:cs typeface="Tahoma"/>
              </a:defRPr>
            </a:lvl1pPr>
            <a:lvl2pPr>
              <a:defRPr sz="1500" lang="fa-IR" dirty="0">
                <a:latin typeface="Tahoma"/>
                <a:cs typeface="Tahoma"/>
              </a:defRPr>
            </a:lvl2pPr>
            <a:lvl3pPr>
              <a:defRPr sz="1350" lang="fa-IR" dirty="0">
                <a:latin typeface="Tahoma"/>
                <a:cs typeface="Tahoma"/>
              </a:defRPr>
            </a:lvl3pPr>
            <a:lvl4pPr>
              <a:defRPr sz="1200" lang="fa-IR" dirty="0">
                <a:latin typeface="Tahoma"/>
                <a:cs typeface="Tahoma"/>
              </a:defRPr>
            </a:lvl4pPr>
            <a:lvl5pPr>
              <a:defRPr sz="1200" lang="fa-IR" dirty="0">
                <a:latin typeface="Tahoma"/>
                <a:cs typeface="Tahoma"/>
              </a:defRPr>
            </a:lvl5pPr>
            <a:lvl6pPr>
              <a:defRPr sz="1200" lang="fa-IR" dirty="0">
                <a:latin typeface="Tahoma"/>
                <a:cs typeface="Tahoma"/>
              </a:defRPr>
            </a:lvl6pPr>
            <a:lvl7pPr>
              <a:defRPr sz="1200" lang="fa-IR" dirty="0">
                <a:latin typeface="Tahoma"/>
                <a:cs typeface="Tahoma"/>
              </a:defRPr>
            </a:lvl7pPr>
            <a:lvl8pPr>
              <a:defRPr sz="1200" lang="fa-IR" dirty="0">
                <a:latin typeface="Tahoma"/>
                <a:cs typeface="Tahoma"/>
              </a:defRPr>
            </a:lvl8pPr>
            <a:lvl9pPr>
              <a:defRPr sz="12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 anchor="ctr"/>
          <a:lstStyle>
            <a:lvl1pPr algn="r">
              <a:defRPr sz="2200" b="1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80000"/>
            <a:ext cx="8229600" cy="2930000"/>
          </a:xfrm>
        </p:spPr>
        <p:txBody>
          <a:bodyPr/>
          <a:lstStyle>
            <a:lvl1pPr>
              <a:defRPr sz="2400" lang="fa-IR" dirty="0">
                <a:latin typeface="Tahoma"/>
                <a:cs typeface="Tahoma"/>
              </a:defRPr>
            </a:lvl1pPr>
            <a:lvl2pPr>
              <a:defRPr sz="2100" lang="fa-IR" dirty="0">
                <a:latin typeface="Tahoma"/>
                <a:cs typeface="Tahoma"/>
              </a:defRPr>
            </a:lvl2pPr>
            <a:lvl3pPr>
              <a:defRPr sz="1800" lang="fa-IR" dirty="0">
                <a:latin typeface="Tahoma"/>
                <a:cs typeface="Tahoma"/>
              </a:defRPr>
            </a:lvl3pPr>
            <a:lvl4pPr>
              <a:defRPr sz="1500" lang="fa-IR" dirty="0">
                <a:latin typeface="Tahoma"/>
                <a:cs typeface="Tahoma"/>
              </a:defRPr>
            </a:lvl4pPr>
            <a:lvl5pPr>
              <a:defRPr sz="1500" lang="fa-IR" dirty="0">
                <a:latin typeface="Tahoma"/>
                <a:cs typeface="Tahoma"/>
              </a:defRPr>
            </a:lvl5pPr>
            <a:lvl6pPr>
              <a:defRPr sz="1500" lang="fa-IR" dirty="0">
                <a:latin typeface="Tahoma"/>
                <a:cs typeface="Tahoma"/>
              </a:defRPr>
            </a:lvl6pPr>
            <a:lvl7pPr>
              <a:defRPr sz="1500" lang="fa-IR" dirty="0">
                <a:latin typeface="Tahoma"/>
                <a:cs typeface="Tahoma"/>
              </a:defRPr>
            </a:lvl7pPr>
            <a:lvl8pPr>
              <a:defRPr sz="1500" lang="fa-IR" dirty="0">
                <a:latin typeface="Tahoma"/>
                <a:cs typeface="Tahoma"/>
              </a:defRPr>
            </a:lvl8pPr>
            <a:lvl9pPr>
              <a:defRPr sz="1500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3830000"/>
            <a:ext cx="8229600" cy="980000"/>
          </a:xfrm>
        </p:spPr>
        <p:txBody>
          <a:bodyPr/>
          <a:lstStyle>
            <a:lvl1pPr marL="285750" indent="-285750" algn="r">
              <a:buChar char="•"/>
              <a:defRPr sz="1500" lang="fa-IR" dirty="0">
                <a:latin typeface="Tahoma"/>
                <a:cs typeface="Tahoma"/>
              </a:defRPr>
            </a:lvl1pPr>
            <a:lvl2pPr marL="342900" indent="0">
              <a:buNone/>
              <a:defRPr sz="900" lang="fa-IR" dirty="0">
                <a:latin typeface="Tahoma"/>
                <a:cs typeface="Tahoma"/>
              </a:defRPr>
            </a:lvl2pPr>
            <a:lvl3pPr marL="685800" indent="0">
              <a:buNone/>
              <a:defRPr sz="750" lang="fa-IR" dirty="0">
                <a:latin typeface="Tahoma"/>
                <a:cs typeface="Tahoma"/>
              </a:defRPr>
            </a:lvl3pPr>
            <a:lvl4pPr marL="1028700" indent="0">
              <a:buNone/>
              <a:defRPr sz="675" lang="fa-IR" dirty="0">
                <a:latin typeface="Tahoma"/>
                <a:cs typeface="Tahoma"/>
              </a:defRPr>
            </a:lvl4pPr>
            <a:lvl5pPr marL="1371600" indent="0">
              <a:buNone/>
              <a:defRPr sz="675" lang="fa-IR" dirty="0">
                <a:latin typeface="Tahoma"/>
                <a:cs typeface="Tahoma"/>
              </a:defRPr>
            </a:lvl5pPr>
            <a:lvl6pPr marL="1714500" indent="0">
              <a:buNone/>
              <a:defRPr sz="675" lang="fa-IR" dirty="0">
                <a:latin typeface="Tahoma"/>
                <a:cs typeface="Tahoma"/>
              </a:defRPr>
            </a:lvl6pPr>
            <a:lvl7pPr marL="2057400" indent="0">
              <a:buNone/>
              <a:defRPr sz="675" lang="fa-IR" dirty="0">
                <a:latin typeface="Tahoma"/>
                <a:cs typeface="Tahoma"/>
              </a:defRPr>
            </a:lvl7pPr>
            <a:lvl8pPr marL="2400300" indent="0">
              <a:buNone/>
              <a:defRPr sz="675" lang="fa-IR" dirty="0">
                <a:latin typeface="Tahoma"/>
                <a:cs typeface="Tahoma"/>
              </a:defRPr>
            </a:lvl8pPr>
            <a:lvl9pPr marL="2743200" indent="0">
              <a:buNone/>
              <a:defRPr sz="675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 lang="fa-IR" dirty="0">
                <a:latin typeface="Tahoma"/>
                <a:cs typeface="Tahoma"/>
              </a:defRPr>
            </a:lvl1pPr>
          </a:lstStyle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 lang="fa-IR" dirty="0">
                <a:latin typeface="Tahoma"/>
                <a:cs typeface="Tahoma"/>
              </a:defRPr>
            </a:lvl1pPr>
            <a:lvl2pPr marL="342900" indent="0">
              <a:buNone/>
              <a:defRPr sz="2100" lang="fa-IR" dirty="0">
                <a:latin typeface="Tahoma"/>
                <a:cs typeface="Tahoma"/>
              </a:defRPr>
            </a:lvl2pPr>
            <a:lvl3pPr marL="685800" indent="0">
              <a:buNone/>
              <a:defRPr sz="1800" lang="fa-IR" dirty="0">
                <a:latin typeface="Tahoma"/>
                <a:cs typeface="Tahoma"/>
              </a:defRPr>
            </a:lvl3pPr>
            <a:lvl4pPr marL="1028700" indent="0">
              <a:buNone/>
              <a:defRPr sz="1500" lang="fa-IR" dirty="0">
                <a:latin typeface="Tahoma"/>
                <a:cs typeface="Tahoma"/>
              </a:defRPr>
            </a:lvl4pPr>
            <a:lvl5pPr marL="1371600" indent="0">
              <a:buNone/>
              <a:defRPr sz="1500" lang="fa-IR" dirty="0">
                <a:latin typeface="Tahoma"/>
                <a:cs typeface="Tahoma"/>
              </a:defRPr>
            </a:lvl5pPr>
            <a:lvl6pPr marL="1714500" indent="0">
              <a:buNone/>
              <a:defRPr sz="1500" lang="fa-IR" dirty="0">
                <a:latin typeface="Tahoma"/>
                <a:cs typeface="Tahoma"/>
              </a:defRPr>
            </a:lvl6pPr>
            <a:lvl7pPr marL="2057400" indent="0">
              <a:buNone/>
              <a:defRPr sz="1500" lang="fa-IR" dirty="0">
                <a:latin typeface="Tahoma"/>
                <a:cs typeface="Tahoma"/>
              </a:defRPr>
            </a:lvl7pPr>
            <a:lvl8pPr marL="2400300" indent="0">
              <a:buNone/>
              <a:defRPr sz="1500" lang="fa-IR" dirty="0">
                <a:latin typeface="Tahoma"/>
                <a:cs typeface="Tahoma"/>
              </a:defRPr>
            </a:lvl8pPr>
            <a:lvl9pPr marL="2743200" indent="0">
              <a:buNone/>
              <a:defRPr sz="1500" lang="fa-IR" dirty="0">
                <a:latin typeface="Tahoma"/>
                <a:cs typeface="Tahoma"/>
              </a:defRPr>
            </a:lvl9pPr>
          </a:lstStyle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 lang="fa-IR" dirty="0">
                <a:latin typeface="Tahoma"/>
                <a:cs typeface="Tahoma"/>
              </a:defRPr>
            </a:lvl1pPr>
            <a:lvl2pPr marL="342900" indent="0">
              <a:buNone/>
              <a:defRPr sz="900" lang="fa-IR" dirty="0">
                <a:latin typeface="Tahoma"/>
                <a:cs typeface="Tahoma"/>
              </a:defRPr>
            </a:lvl2pPr>
            <a:lvl3pPr marL="685800" indent="0">
              <a:buNone/>
              <a:defRPr sz="750" lang="fa-IR" dirty="0">
                <a:latin typeface="Tahoma"/>
                <a:cs typeface="Tahoma"/>
              </a:defRPr>
            </a:lvl3pPr>
            <a:lvl4pPr marL="1028700" indent="0">
              <a:buNone/>
              <a:defRPr sz="675" lang="fa-IR" dirty="0">
                <a:latin typeface="Tahoma"/>
                <a:cs typeface="Tahoma"/>
              </a:defRPr>
            </a:lvl4pPr>
            <a:lvl5pPr marL="1371600" indent="0">
              <a:buNone/>
              <a:defRPr sz="675" lang="fa-IR" dirty="0">
                <a:latin typeface="Tahoma"/>
                <a:cs typeface="Tahoma"/>
              </a:defRPr>
            </a:lvl5pPr>
            <a:lvl6pPr marL="1714500" indent="0">
              <a:buNone/>
              <a:defRPr sz="675" lang="fa-IR" dirty="0">
                <a:latin typeface="Tahoma"/>
                <a:cs typeface="Tahoma"/>
              </a:defRPr>
            </a:lvl6pPr>
            <a:lvl7pPr marL="2057400" indent="0">
              <a:buNone/>
              <a:defRPr sz="675" lang="fa-IR" dirty="0">
                <a:latin typeface="Tahoma"/>
                <a:cs typeface="Tahoma"/>
              </a:defRPr>
            </a:lvl7pPr>
            <a:lvl8pPr marL="2400300" indent="0">
              <a:buNone/>
              <a:defRPr sz="675" lang="fa-IR" dirty="0">
                <a:latin typeface="Tahoma"/>
                <a:cs typeface="Tahoma"/>
              </a:defRPr>
            </a:lvl8pPr>
            <a:lvl9pPr marL="2743200" indent="0">
              <a:buNone/>
              <a:defRPr sz="675" lang="fa-IR" dirty="0">
                <a:latin typeface="Tahoma"/>
                <a:cs typeface="Tahoma"/>
              </a:defRPr>
            </a:lvl9pPr>
          </a:lstStyle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rtl="1" algn="r"/>
            <a:r>
              <a:rPr lang="fa-IR" dirty="0">
                <a:latin typeface="Tahoma"/>
                <a:cs typeface="Tahoma"/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Click to edit Master text styles</a:t>
            </a:r>
          </a:p>
          <a:p>
            <a:pPr lvl="1" rtl="1" algn="r"/>
            <a:r>
              <a:rPr lang="fa-IR" dirty="0">
                <a:latin typeface="Tahoma"/>
                <a:cs typeface="Tahoma"/>
              </a:rPr>
              <a:t>Second level</a:t>
            </a:r>
          </a:p>
          <a:p>
            <a:pPr lvl="2" rtl="1" algn="r"/>
            <a:r>
              <a:rPr lang="fa-IR" dirty="0">
                <a:latin typeface="Tahoma"/>
                <a:cs typeface="Tahoma"/>
              </a:rPr>
              <a:t>Third level</a:t>
            </a:r>
          </a:p>
          <a:p>
            <a:pPr lvl="3" rtl="1" algn="r"/>
            <a:r>
              <a:rPr lang="fa-IR" dirty="0">
                <a:latin typeface="Tahoma"/>
                <a:cs typeface="Tahoma"/>
              </a:rPr>
              <a:t>Fourth level</a:t>
            </a:r>
          </a:p>
          <a:p>
            <a:pPr lvl="4" rtl="1" algn="r"/>
            <a:r>
              <a:rPr lang="fa-IR" dirty="0">
                <a:latin typeface="Tahoma"/>
                <a:cs typeface="Tahoma"/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fld id="{241EB5C9-1307-BA42-ABA2-0BC069CD8E7F}" type="datetimeFigureOut">
              <a:rPr lang="fa-IR" smtClean="0" dirty="0">
                <a:latin typeface="Tahoma"/>
                <a:cs typeface="Tahoma"/>
              </a:rPr>
              <a:t>1/2/22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endParaRPr lang="fa-IR" dirty="0">
              <a:latin typeface="Tahoma"/>
              <a:cs typeface="Tahom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 lang="fa-IR" dirty="0">
                <a:solidFill>
                  <a:schemeClr val="tx1">
                    <a:tint val="75000"/>
                  </a:schemeClr>
                </a:solidFill>
                <a:latin typeface="Tahoma"/>
                <a:cs typeface="Tahoma"/>
              </a:defRPr>
            </a:lvl1pPr>
          </a:lstStyle>
          <a:p>
            <a:pPr rtl="1" algn="r"/>
            <a:fld id="{C5EF2332-01BF-834F-8236-50238282D533}" type="slidenum">
              <a:rPr lang="fa-IR" smtClean="0" dirty="0">
                <a:latin typeface="Tahoma"/>
                <a:cs typeface="Tahoma"/>
              </a:rPr>
              <a:t>‹#›</a:t>
            </a:fld>
            <a:endParaRPr lang="fa-IR" dirty="0">
              <a:latin typeface="Tahoma"/>
              <a:cs typeface="Tahoma"/>
            </a:endParaRPr>
          </a:p>
        </p:txBody>
      </p:sp>
      <p:sp>
        <p:nvSpPr>
          <p:cNvPr id="90" name="Slide number text"/>
          <p:cNvSpPr txBox="1"/>
          <p:nvPr userDrawn="1"/>
        </p:nvSpPr>
        <p:spPr>
          <a:xfrm>
            <a:off x="457200" y="4850000"/>
            <a:ext cx="400000" cy="25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 rtl="1"/>
            <a:fld id="{B6F15528-21DE-4FAA-801E-634DDDAF4B2B}" type="slidenum">
              <a:rPr lang="fa-IR" sz="1100" dirty="0">
                <a:solidFill>
                  <a:srgbClr val="7A8594"/>
                </a:solidFill>
                <a:latin typeface="Tahoma"/>
                <a:cs typeface="Tahoma"/>
              </a:rPr>
              <a:t>‹#›</a:t>
            </a:fld>
            <a:endParaRPr lang="fa-IR" sz="1100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342900" eaLnBrk="1" hangingPunct="1" latinLnBrk="0" rtl="0">
        <a:spcBef>
          <a:spcPct val="0"/>
        </a:spcBef>
        <a:buNone/>
        <a:defRPr b="1" kern="1200" sz="2400" lang="fa-IR" dirty="0">
          <a:solidFill>
            <a:schemeClr val="tx1"/>
          </a:solidFill>
          <a:latin typeface="Tahoma"/>
          <a:ea typeface="+mj-ea"/>
          <a:cs typeface="Tahoma"/>
        </a:defRPr>
      </a:lvl1pPr>
    </p:titleStyle>
    <p:bodyStyle>
      <a:lvl1pPr algn="r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 lang="fa-IR" dirty="0">
          <a:solidFill>
            <a:schemeClr val="tx1"/>
          </a:solidFill>
          <a:latin typeface="Tahoma"/>
          <a:ea typeface="+mn-ea"/>
          <a:cs typeface="Tahom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400" lang="fa-IR" dirty="0">
          <a:solidFill>
            <a:schemeClr val="tx1"/>
          </a:solidFill>
          <a:latin typeface="Tahoma"/>
          <a:ea typeface="+mn-ea"/>
          <a:cs typeface="Tahom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 lang="fa-IR" dirty="0">
          <a:solidFill>
            <a:schemeClr val="tx1"/>
          </a:solidFill>
          <a:latin typeface="Tahoma"/>
          <a:ea typeface="+mn-ea"/>
          <a:cs typeface="Tahom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 lang="fa-IR" dirty="0">
          <a:solidFill>
            <a:schemeClr val="tx1"/>
          </a:solidFill>
          <a:latin typeface="Tahoma"/>
          <a:ea typeface="+mn-ea"/>
          <a:cs typeface="Tahoma"/>
        </a:defRPr>
      </a:lvl9pPr>
    </p:bodyStyle>
    <p:otherStyle>
      <a:defPPr>
        <a:defRPr lang="fa-IR" dirty="0">
          <a:latin typeface="Tahoma"/>
          <a:cs typeface="Tahoma"/>
        </a:defRPr>
      </a:defPPr>
      <a:lvl1pPr algn="l" defTabSz="342900" eaLnBrk="1" hangingPunct="1" latinLnBrk="0" marL="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1pPr>
      <a:lvl2pPr algn="l" defTabSz="342900" eaLnBrk="1" hangingPunct="1" latinLnBrk="0" marL="3429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2pPr>
      <a:lvl3pPr algn="l" defTabSz="342900" eaLnBrk="1" hangingPunct="1" latinLnBrk="0" marL="6858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3pPr>
      <a:lvl4pPr algn="l" defTabSz="342900" eaLnBrk="1" hangingPunct="1" latinLnBrk="0" marL="10287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4pPr>
      <a:lvl5pPr algn="l" defTabSz="342900" eaLnBrk="1" hangingPunct="1" latinLnBrk="0" marL="13716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5pPr>
      <a:lvl6pPr algn="l" defTabSz="342900" eaLnBrk="1" hangingPunct="1" latinLnBrk="0" marL="17145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6pPr>
      <a:lvl7pPr algn="l" defTabSz="342900" eaLnBrk="1" hangingPunct="1" latinLnBrk="0" marL="20574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7pPr>
      <a:lvl8pPr algn="l" defTabSz="342900" eaLnBrk="1" hangingPunct="1" latinLnBrk="0" marL="24003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8pPr>
      <a:lvl9pPr algn="l" defTabSz="342900" eaLnBrk="1" hangingPunct="1" latinLnBrk="0" marL="2743200" rtl="0">
        <a:defRPr kern="1200" sz="1350" lang="fa-IR" dirty="0">
          <a:solidFill>
            <a:schemeClr val="tx1"/>
          </a:solidFill>
          <a:latin typeface="Tahoma"/>
          <a:ea typeface="+mn-ea"/>
          <a:cs typeface="Tahoma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0.xml" /><Relationship Id="rId3" Type="http://schemas.openxmlformats.org/officeDocument/2006/relationships/image" Target="../media/image1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تحلیل ترموالاستیک استوانه‌های متخلخلِ تقویت‌شده با پلاکت‌های گرافنی تحت بارِ ترمو-مکانیکی با استفاده از تئوری لرد-شولمن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نگارنده: ‹نام دانشجو› | استاد راهنما: ‹نام استاد راهنما›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‹نام دانشگاه و دانشکده› — ‹تاریخ دفاع›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فهرست مطالب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بیان مسئله و هدف پژوهش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پیشینهٔ پژوهش: تئوری‌ها، سازه‌های مدرج، مواد متخلخل، ترموالاستیسیتهٔ تعمیم‌یافته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شکاف تحقیقاتی و جایگاه پژوهش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مدل‌سازی: هندسه، مواد و الگوها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معادلات حاکم و روش حل عددی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صحت‌سنجی و همگرایی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نتایج و بحث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نوآوری‌ها، نتیجه‌گیری و پیشنهادها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استوانه‌های جدارضخیم: سازه‌ای پرکاربرد در معرض بارهای حرارتی سریع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سیلندرها استوانه‌هایی توخالی و معمولاً جدارضخیم‌اند و بارهای محوری، برشی، پیچشی، خمشی، هیدرواستاتیک و هیدرودینامیک را تحمل می‌کنند.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کاربرد: مخازن نگهداری و انتقال سیال، فضاپیماها، رآکتورهای هسته‌ای، مبدل‌های حرارتی.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این اجزا اغلب در معرض بارهای حرارتیِ سریع و شدید قرار می‌گیرند.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پیش‌بینی دقیق دما و تنش‌های حرارتیِ گذرا برای ایمنی و طول عمر سازه حیاتی است.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مواد نوین: گرافن برای استحکام، تخلخل برای سبکی و عایق‌بودن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نانولوله‌های کربنی (۱۹۹۱) و گرافن (۲۰۰۴): استحکام و مدول بسیار زیاد، رسانش الکتریکی و حرارتی عالی [۱].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نانوکامپوزیت‌های گرافنی از کامپوزیت‌های نانولوله و نانوگرافیت خواص مکانیکی بهتری نشان داده‌اند؛ سطح تماس زیاد، انتقال بار را بهبود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مواد متخلخل: سبک، جاذب انرژی، با سطح ویژهٔ زیاد و مقاوم در برابر حرارت؛ اما تخلخل استحکام را کم می‌کند.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افزودن ورقه‌های گرافنی به مادهٔ متخلخل یکی از راه‌های جبران این افت است [۲].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ترکیب این دو در ماده‌ای مدرجِ لایه‌ای، توزیع هدفمند ماده در ضخامت را ممکن می‌کند.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مسئله: پاسخ ترموالاستیک گذرا؛ انتخاب مدل هدایت و الگوی ماده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قانون فوریه سرعت انتشار حرارت را نامحدود می‌گیرد؛ در بارهای حرارتی پیچیده مانند شوک حرارتی و بار انفجاری دقت کافی ندارد [۳].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تئوری‌های غیرممزوج، دما و جابجایی را مستقل حساب می‌کنند.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برای دقت بیشتر، تئوری‌های تعمیم‌یافته و ممزوج معرفی شده‌اند؛ یکی از آن‌ها تئوری لرد–شولمن (۱۹۶۷) با زمان تخفیف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 است [۴].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مسئلهٔ این پژوهش:</a:t>
                </a:r>
                <a:r>
                  <a:rPr lang="fa-IR" dirty="0">
                    <a:latin typeface="Tahoma"/>
                    <a:cs typeface="Tahoma"/>
                  </a:rPr>
                  <a:t> توزیع دما، تنش، کرنش و جابجایی در استوانهٔ متخلخلِ تقویت‌شده با پلاکت‌های گرافنی تحت بار ترمو-مکانیکی.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هدف و پرسش‌های پژوهش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هدف:</a:t>
            </a:r>
            <a:r>
              <a:rPr lang="fa-IR" dirty="0">
                <a:latin typeface="Tahoma"/>
                <a:cs typeface="Tahoma"/>
              </a:rPr>
              <a:t> تحلیل ترموالاستیک استوانهٔ توخالیِ متخلخل تقویت‌شده با پلاکت‌های گرافنی تحت بار ترمو-مکانیکی، برای الگوهای مختلف گرافن و تخلخل در ضخامت.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پاسخ دما، تنش و جابجایی با سرعت متناهی موج حرارتی چه تفاوتی با هدایت فوریه دارد؟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الگوی گرافن و الگو و شدت تخلخل چگونه بر بیشینهٔ دما، تنش و جابجایی اثر می‌گذارند؟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برهم‌کنش هم‌زمان دو الگو هم‌افزاست یا خنثی‌کننده؟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اثر کسر وزنی، نسبت ابعادی، زمان تخفیف، تکیه‌گاه، فشار و ضخامت بر پاسخ گذرا چیست؟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۱: تئوری‌های تحلیل استوانه — از پوسته تا الاستیسیتهٔ سه‌بعدی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تئوری‌های پوسته و ورق: کلاسیک، برشی مرتبهٔ اول و مراتب بالا [۵].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کلاسیک:</a:t>
            </a:r>
            <a:r>
              <a:rPr lang="fa-IR" dirty="0">
                <a:latin typeface="Tahoma"/>
                <a:cs typeface="Tahoma"/>
              </a:rPr>
              <a:t> از کرنش عمودی و برش عرضی صرف‌نظر می‌کند؛ با افزایش ضخامت دقتش کم می‌شود.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برشی مرتبهٔ اول:</a:t>
            </a:r>
            <a:r>
              <a:rPr lang="fa-IR" dirty="0">
                <a:latin typeface="Tahoma"/>
                <a:cs typeface="Tahoma"/>
              </a:rPr>
              <a:t> برش عرضی و اینرسی چرخشی را وارد می‌کند اما کرنش برشی را ثابت می‌گیرد (ضریب تصحیح برشی)؛ مراتب بالاتر جملات بیشتری نگه می‌دارند.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مزیت پوسته‌ها: حجم محاسباتی کم؛ ضعف: افت دقت در ضخامت زیاد و در رفتار محلی.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راه‌حل:</a:t>
            </a:r>
            <a:r>
              <a:rPr lang="fa-IR" dirty="0">
                <a:latin typeface="Tahoma"/>
                <a:cs typeface="Tahoma"/>
              </a:rPr>
              <a:t> الاستیسیتهٔ سه‌بعدی و ترموالاستیسیتهٔ سه‌بعدی — جابجایی، تنش و کرنش در هر نقطه.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۲: خانوادهٔ تئوری‌های ترموالاستیسیته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کلاسیک</a:t>
            </a:r>
            <a:r>
              <a:rPr lang="fa-IR" dirty="0">
                <a:latin typeface="Tahoma"/>
                <a:cs typeface="Tahoma"/>
              </a:rPr>
              <a:t> (فوریه، سرعت موج نامحدود): غیرممزوج و ممزوج. </a:t>
            </a:r>
            <a:r>
              <a:rPr b="1" lang="fa-IR" dirty="0">
                <a:latin typeface="Tahoma"/>
                <a:cs typeface="Tahoma"/>
              </a:rPr>
              <a:t>تعمیم‌یافته</a:t>
            </a:r>
            <a:r>
              <a:rPr lang="fa-IR" dirty="0">
                <a:latin typeface="Tahoma"/>
                <a:cs typeface="Tahoma"/>
              </a:rPr>
              <a:t> (هذلولوی، سرعت موج متناهی، «صوت دوم»): لرد–شولمن، گرین–لیندزی، گرین–نقدی، تأخیر دوفازی.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مرور جامع: شاکری‌اسکی و همکاران (۲۰۲۱) [۷۸].</a:t>
            </a:r>
          </a:p>
        </p:txBody>
      </p:sp>
      <p:pic>
        <p:nvPicPr>
          <p:cNvPr descr="../figures_ch123/theory_taxon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7700" y="876300"/>
            <a:ext cx="78486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پیشینه ۳: مهم‌ترین پژوهش‌های پیشین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ملک‌زاده و همکاران (۲۰۱۲): پاسخ گذرای پوستهٔ چندلایه، DQM + نیومارک [۳۱].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ملک‌زاده و حیدرپور (۲۰۱۲): بار ترمو-مکانیکی متحرک، هدایت هذلولوی [۳۲].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حیدرپور و همکاران (۲۰۲۰): پوستهٔ استوانه‌ایِ گرافنی، بار ترمو-مکانیکی دینامیکی [۴۶].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رحیمی و همکاران (۲۰۲۰): تحلیل سه‌بعدی استوانهٔ متخلخلِ گرافنی با هالپین–تسای؛ یاس و رحیمی (۲۰۲۰): مدل سلول‌باز [۴۷، ۵۱].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مرادی‌دستجردی و بهدینان (۲۰۲۱): تنش در استوانهٔ جدارضخیمِ مدرجِ متخلخلِ گرافنی، حالت پایا [۵۲].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باهتویی و اسلامی (۲۰۰۷)، بگری و اسلامی (۲۰۰۸): ترموالاستیسیتهٔ تعمیم‌یافته (لرد–شولمن) در پوستهٔ استوانه‌ای و دیسکِ مدرج [۶۴–۶۶].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حیدرپور و همکاران (۲۰۱۹، ۲۰۲۰): پوستهٔ کروی و مخروط ناقصِ گرافنی با لرد–شولمن، DQM لایه‌ای + نیومارک — نزدیک‌ترین کارها و مبنای فصل‌های ۳ و ۴ [۳، ۶۸–۷۰].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جمع‌بندی پیشینه: چهار شکاف پژوهشی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سه شاخه جداگانه بالغ شده‌اند: ترموالاستیک استوانه‌های کامپوزیتی، مدل‌سازی مواد متخلخل گرافنی و تئوری‌های تعمیم‌یافته؛ بررسی هم‌زمانشان به‌ندرت انجام شده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۱.</a:t>
                </a:r>
                <a:r>
                  <a:rPr lang="fa-IR" dirty="0">
                    <a:latin typeface="Tahoma"/>
                    <a:cs typeface="Tahoma"/>
                  </a:rPr>
                  <a:t> کارهای گذرا اغلب بر تئوری پوسته‌اند؛ حل کاملاً دوبعدی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برای استوانهٔ جدارضخیم کمتر به‌کار رفته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۲.</a:t>
                </a:r>
                <a:r>
                  <a:rPr lang="fa-IR" dirty="0">
                    <a:latin typeface="Tahoma"/>
                    <a:cs typeface="Tahoma"/>
                  </a:rPr>
                  <a:t> تحلیل‌های استوانهٔ متخلخل گرافنی عمدتاً مکانیکی یا حرارتیِ پایا و بر پایهٔ فوریه‌اند.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۳.</a:t>
                </a:r>
                <a:r>
                  <a:rPr lang="fa-IR" dirty="0">
                    <a:latin typeface="Tahoma"/>
                    <a:cs typeface="Tahoma"/>
                  </a:rPr>
                  <a:t> کارهای لرد–شولمن با DQM لایه‌ای و نیومارک بر کره، مخروط ناقص یا پوسته‌اند؛ استوانهٔ جدارضخیم چندلایه با گرافن و تخلخل هم‌زمان پوشش داده نشده است.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۴.</a:t>
                </a:r>
                <a:r>
                  <a:rPr lang="fa-IR" dirty="0">
                    <a:latin typeface="Tahoma"/>
                    <a:cs typeface="Tahoma"/>
                  </a:rPr>
                  <a:t> برهم‌کنش کاملِ الگوهای گرافن و تخلخل (ماتریس ۵×۵) و مقایسهٔ نظریه‌ها در یک مسئلهٔ استوانه‌ای گزارش نشده است.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جایگاه پژوهش حاضر در ادبیات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تحلیل ترموالاستیک گذرا و کاملاً ممزوج برای استوانهٔ توخالیِ جدارضخیمِ چندلایهٔ متخلخل تقویت‌شده با گرافن.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خواص مؤثر: هالپین–تسای، قاعدهٔ مخلوط‌ها و مدل سلول‌باز.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معادلات به‌صورت دوبعدی در صفحهٔ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و بدون تحویل به فرضیات پوسته.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گسسته‌سازی: DQM لایه‌ای (گره‌های چبیشف–گاوس–لوباتو) در مکان و نیومارک در زمان.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گرافن و تخلخل، هر یک در پنج الگوی UD، O، X، V و A.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استوانهٔ توخالیِ هفت‌لایه با خواص متغیر در ضخامت</a:t>
            </a:r>
          </a:p>
        </p:txBody>
      </p:sp>
      <p:pic>
        <p:nvPicPr>
          <p:cNvPr descr="../figures_ch123/geometry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38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حالت مرجع و شرایط مرزی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ابعاد: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m،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o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1.5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m، طول </a:t>
                </a:r>
                <a14:m>
                  <m:oMath xmlns:m="http://schemas.openxmlformats.org/officeDocument/2006/math">
                    <m:r>
                      <m:t>L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2.1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حرارت: سطح داخلی </a:t>
                </a:r>
                <a14:m>
                  <m:oMath xmlns:m="http://schemas.openxmlformats.org/officeDocument/2006/math">
                    <m:r>
                      <m:t>300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600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K؛ سطح خارجی همرفت با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W/m²K.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مکانیک: فشار داخلی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MPa؛ انتهاها تکیه‌گاه ساده و عایق.</a:t>
                </a:r>
              </a:p>
              <a:p>
                <a:pPr lvl="0" rtl="1" algn="r"/>
                <a14:m>
                  <m:oMath xmlns:m="http://schemas.openxmlformats.org/officeDocument/2006/math">
                    <m:sSup>
                      <m:e>
                        <m:r>
                          <m:t>τ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0.15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(معادل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418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s)؛ زمان کل ۳۰۰۰ ثانیه.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خواص: </a:t>
                </a:r>
                <a:r>
                  <a:rPr b="1" lang="fa-IR" dirty="0">
                    <a:latin typeface="Tahoma"/>
                    <a:cs typeface="Tahoma"/>
                  </a:rPr>
                  <a:t>هالپین-تسای</a:t>
                </a:r>
                <a:r>
                  <a:rPr lang="fa-IR" dirty="0">
                    <a:latin typeface="Tahoma"/>
                    <a:cs typeface="Tahoma"/>
                  </a:rPr>
                  <a:t> + قانون مخلوط‌ها؛ تخلخل: </a:t>
                </a:r>
                <a:r>
                  <a:rPr b="1" lang="fa-IR" dirty="0">
                    <a:latin typeface="Tahoma"/>
                    <a:cs typeface="Tahoma"/>
                  </a:rPr>
                  <a:t>سلول باز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پنج الگوی توزیع گرافن در ضخامت</a:t>
            </a:r>
          </a:p>
        </p:txBody>
      </p:sp>
      <p:pic>
        <p:nvPicPr>
          <p:cNvPr descr="../figures_ch123/GPL_patterns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74900" y="1193800"/>
            <a:ext cx="4381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پنج الگوی توزیع تخلخل در ضخامت</a:t>
            </a:r>
          </a:p>
        </p:txBody>
      </p:sp>
      <p:pic>
        <p:nvPicPr>
          <p:cNvPr descr="../figures_ch123/porosity_patterns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1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معادلهٔ انرژی لرد–شولمن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 rtl="1" algn="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ρ</m:t>
                      </m:r>
                      <m:r>
                        <m:t>c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τ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acc>
                            <m:accPr>
                              <m:chr m:val="̈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̇"/>
                            </m:accPr>
                            <m:e>
                              <m:r>
                                <m:t>e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τ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acc>
                            <m:accPr>
                              <m:chr m:val="̈"/>
                            </m:accPr>
                            <m:e>
                              <m:r>
                                <m:t>e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∇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k</m:t>
                      </m:r>
                      <m:r>
                        <m:rPr>
                          <m:sty m:val="p"/>
                        </m:rPr>
                        <m:t>∇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جملهٔ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acc>
                      <m:accPr>
                        <m:chr m:val="̈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 lang="fa-IR" dirty="0">
                    <a:latin typeface="Tahoma"/>
                    <a:cs typeface="Tahoma"/>
                  </a:rPr>
                  <a:t> معادله را </a:t>
                </a:r>
                <a:r>
                  <a:rPr b="1" lang="fa-IR" dirty="0">
                    <a:latin typeface="Tahoma"/>
                    <a:cs typeface="Tahoma"/>
                  </a:rPr>
                  <a:t>هذلولوی</a:t>
                </a:r>
                <a:r>
                  <a:rPr lang="fa-IR" dirty="0">
                    <a:latin typeface="Tahoma"/>
                    <a:cs typeface="Tahoma"/>
                  </a:rPr>
                  <a:t> می‌کند؛ سرعت موج </a:t>
                </a:r>
                <a14:m>
                  <m:oMath xmlns:m="http://schemas.openxmlformats.org/officeDocument/2006/math">
                    <m: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sSub>
                          <m:e>
                            <m:r>
                              <m:t>τ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rad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جملهٔ </a:t>
                </a:r>
                <a14:m>
                  <m:oMath xmlns:m="http://schemas.openxmlformats.org/officeDocument/2006/math">
                    <m:r>
                      <m:t>β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acc>
                      <m:accPr>
                        <m:chr m:val="̇"/>
                      </m:accPr>
                      <m:e>
                        <m:r>
                          <m:t>e</m:t>
                        </m:r>
                      </m:e>
                    </m:acc>
                  </m:oMath>
                </a14:m>
                <a:r>
                  <a:rPr lang="fa-IR" dirty="0">
                    <a:latin typeface="Tahoma"/>
                    <a:cs typeface="Tahoma"/>
                  </a:rPr>
                  <a:t/>
                </a:r>
                <a:r>
                  <a:rPr b="1" lang="fa-IR" dirty="0">
                    <a:latin typeface="Tahoma"/>
                    <a:cs typeface="Tahoma"/>
                  </a:rPr>
                  <a:t>پیوند ممزوج</a:t>
                </a:r>
                <a:r>
                  <a:rPr lang="fa-IR" dirty="0">
                    <a:latin typeface="Tahoma"/>
                    <a:cs typeface="Tahoma"/>
                  </a:rPr>
                  <a:t> دما و تغییرشکل است.</a:t>
                </a:r>
              </a:p>
              <a:p>
                <a:pPr lvl="0" rtl="1" algn="r"/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: </a:t>
                </a:r>
                <a:r>
                  <a:rPr b="1" lang="fa-IR" dirty="0">
                    <a:latin typeface="Tahoma"/>
                    <a:cs typeface="Tahoma"/>
                  </a:rPr>
                  <a:t>فوریهٔ کلاسیک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DQM لایه‌ای + نیومارک: ۱۵ برابر نقطهٔ کمتر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مکان:</a:t>
                </a:r>
                <a:r>
                  <a:rPr lang="fa-IR" dirty="0">
                    <a:latin typeface="Tahoma"/>
                    <a:cs typeface="Tahoma"/>
                  </a:rPr>
                  <a:t> مربعات تفاضلی (DQM) لایه‌ای در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r</m:t>
                    </m:r>
                    <m:r>
                      <m:rPr>
                        <m:sty m:val="p"/>
                      </m:rPr>
                      <m:t>,</m:t>
                    </m:r>
                    <m:r>
                      <m:t>z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با نقاط چبیشف-گاوس-لوباتو.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زمان:</a:t>
                </a:r>
                <a:r>
                  <a:rPr lang="fa-IR" dirty="0">
                    <a:latin typeface="Tahoma"/>
                    <a:cs typeface="Tahoma"/>
                  </a:rPr>
                  <a:t> نیومارک (</a:t>
                </a:r>
                <a14:m>
                  <m:oMath xmlns:m="http://schemas.openxmlformats.org/officeDocument/2006/math">
                    <m:r>
                      <m:t>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4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) — بدون قید پایداری.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شرایط مرزی و </a:t>
                </a:r>
                <a:r>
                  <a:rPr b="1" lang="fa-IR" dirty="0">
                    <a:latin typeface="Tahoma"/>
                    <a:cs typeface="Tahoma"/>
                  </a:rPr>
                  <a:t>سازگاری بین‌لایه‌ای</a:t>
                </a:r>
                <a:r>
                  <a:rPr lang="fa-IR" dirty="0">
                    <a:latin typeface="Tahoma"/>
                    <a:cs typeface="Tahoma"/>
                  </a:rPr>
                  <a:t> (دما، شار، جابجایی، تنش) به‌صورت سطرهای جبری.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DQM در هر راستا حدود </a:t>
                </a:r>
                <a:r>
                  <a:rPr b="1" lang="fa-IR" dirty="0">
                    <a:latin typeface="Tahoma"/>
                    <a:cs typeface="Tahoma"/>
                  </a:rPr>
                  <a:t>۱۵ برابر</a:t>
                </a:r>
                <a:r>
                  <a:rPr lang="fa-IR" dirty="0">
                    <a:latin typeface="Tahoma"/>
                    <a:cs typeface="Tahoma"/>
                  </a:rPr>
                  <a:t> نقطهٔ کمتر از تفاضل محدود و اجزای محدود خطی.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شبکهٔ DQM</a:t>
            </a:r>
          </a:p>
        </p:txBody>
      </p:sp>
      <p:pic>
        <p:nvPicPr>
          <p:cNvPr descr="../figures_ch123/DQM_nodes_schemat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193800"/>
            <a:ext cx="758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فلوچارت حل</a:t>
            </a:r>
          </a:p>
        </p:txBody>
      </p:sp>
      <p:pic>
        <p:nvPicPr>
          <p:cNvPr descr="../figures_ch123/solution_flowcha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467100" y="1193800"/>
            <a:ext cx="219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صحت‌سنجی: پنج آزمون مستقل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حد استاتیکی</a:t>
                </a:r>
                <a:r>
                  <a:rPr lang="fa-IR" dirty="0">
                    <a:latin typeface="Tahoma"/>
                    <a:cs typeface="Tahoma"/>
                  </a:rPr>
                  <a:t> — حل‌گر استاتیکی مستقل: اختلاف نسبی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∼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11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پاسخ مکانیکی</a:t>
                </a:r>
                <a:r>
                  <a:rPr lang="fa-IR" dirty="0">
                    <a:latin typeface="Tahoma"/>
                    <a:cs typeface="Tahoma"/>
                  </a:rPr>
                  <a:t> — ملک‌زاده و ANSYS: اختلاف </a:t>
                </a:r>
                <a:r>
                  <a:rPr b="1" lang="fa-IR" dirty="0">
                    <a:latin typeface="Tahoma"/>
                    <a:cs typeface="Tahoma"/>
                  </a:rPr>
                  <a:t>۰٫۱ تا ۰٫۲٪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هدایت گذرا</a:t>
                </a:r>
                <a:r>
                  <a:rPr lang="fa-IR" dirty="0">
                    <a:latin typeface="Tahoma"/>
                    <a:cs typeface="Tahoma"/>
                  </a:rPr>
                  <a:t> — حل دقیق سری بسل: خطای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 تا </a:t>
                </a:r>
                <a14:m>
                  <m:oMath xmlns:m="http://schemas.openxmlformats.org/officeDocument/2006/math"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7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انتگرال‌گیر زمانی</a:t>
                </a:r>
                <a:r>
                  <a:rPr lang="fa-IR" dirty="0">
                    <a:latin typeface="Tahoma"/>
                    <a:cs typeface="Tahoma"/>
                  </a:rPr>
                  <a:t> — </a:t>
                </a:r>
                <a:r>
                  <a:rPr lang="fa-IR" dirty="0">
                    <a:latin typeface="Tahoma"/>
                    <a:cs typeface="Tahoma"/>
                  </a:rPr>
                  <a:t>ode15s</a:t>
                </a:r>
                <a:r>
                  <a:rPr lang="fa-IR" dirty="0">
                    <a:latin typeface="Tahoma"/>
                    <a:cs typeface="Tahoma"/>
                  </a:rPr>
                  <a:t>: اختلاف </a:t>
                </a:r>
                <a:r>
                  <a:rPr b="1" lang="fa-IR" dirty="0">
                    <a:latin typeface="Tahoma"/>
                    <a:cs typeface="Tahoma"/>
                  </a:rPr>
                  <a:t>۰٫۰۰۳ K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indent="-342900" marL="342900" rtl="1" algn="r">
                  <a:buAutoNum type="arabicPeriod"/>
                </a:pPr>
                <a:r>
                  <a:rPr b="1" lang="fa-IR" dirty="0">
                    <a:latin typeface="Tahoma"/>
                    <a:cs typeface="Tahoma"/>
                  </a:rPr>
                  <a:t>موج صوت دوم</a:t>
                </a:r>
                <a:r>
                  <a:rPr lang="fa-IR" dirty="0">
                    <a:latin typeface="Tahoma"/>
                    <a:cs typeface="Tahoma"/>
                  </a:rPr>
                  <a:t> — حل دقیق تحلیلی: صحت‌سنجی </a:t>
                </a:r>
                <a:r>
                  <a:rPr b="1" lang="fa-IR" dirty="0">
                    <a:latin typeface="Tahoma"/>
                    <a:cs typeface="Tahoma"/>
                  </a:rPr>
                  <a:t>کمّی</a:t>
                </a:r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آزمون ۲: جابجایی شعاعی با مرجع و ANSYS منطبق است</a:t>
            </a:r>
          </a:p>
        </p:txBody>
      </p:sp>
      <p:pic>
        <p:nvPicPr>
          <p:cNvPr descr="../Validation/bench1_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آزمون ۳: پروفیل دما با حل دقیق بسل منطبق است</a:t>
            </a:r>
          </a:p>
        </p:txBody>
      </p:sp>
      <p:pic>
        <p:nvPicPr>
          <p:cNvPr descr="../Validation/bench2_T_profile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1209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موج صوت دوم: خطای ۰٫۳۲٪ در برابر حل دقیق تحلیلی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مرجع: حل دقیق فوریه-بسل برای </a:t>
                </a:r>
                <a:r>
                  <a:rPr b="1" lang="fa-IR" dirty="0">
                    <a:latin typeface="Tahoma"/>
                    <a:cs typeface="Tahoma"/>
                  </a:rPr>
                  <a:t>همین هندسه</a:t>
                </a:r>
                <a:r>
                  <a:rPr lang="fa-IR" dirty="0">
                    <a:latin typeface="Tahoma"/>
                    <a:cs typeface="Tahoma"/>
                  </a:rPr>
                  <a:t>؛ خطا </a:t>
                </a:r>
                <a14:m>
                  <m:oMath xmlns:m="http://schemas.openxmlformats.org/officeDocument/2006/math">
                    <m:r>
                      <m:t>0.32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L</m:t>
                        </m:r>
                      </m:e>
                      <m:sub>
                        <m:r>
                          <m:rPr>
                            <m:sty m:val="p"/>
                          </m:rPr>
                          <m:t>∞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) و </a:t>
                </a:r>
                <a14:m>
                  <m:oMath xmlns:m="http://schemas.openxmlformats.org/officeDocument/2006/math">
                    <m:r>
                      <m:t>0.065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 (</a:t>
                </a:r>
                <a14:m>
                  <m:oMath xmlns:m="http://schemas.openxmlformats.org/officeDocument/2006/math">
                    <m:sSub>
                      <m:e>
                        <m:r>
                          <m:t>L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).</a:t>
                </a:r>
              </a:p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خطا با ریزسازی شبکه </a:t>
                </a:r>
                <a:r>
                  <a:rPr b="1" lang="fa-IR" dirty="0">
                    <a:latin typeface="Tahoma"/>
                    <a:cs typeface="Tahoma"/>
                  </a:rPr>
                  <a:t>یکنواخت کاهش</a:t>
                </a:r>
                <a:r>
                  <a:rPr lang="fa-IR" dirty="0">
                    <a:latin typeface="Tahoma"/>
                    <a:cs typeface="Tahoma"/>
                  </a:rPr>
                  <a:t> می‌یابد ← نوسان‌های پشت پیشانی </a:t>
                </a:r>
                <a:r>
                  <a:rPr b="1" lang="fa-IR" dirty="0">
                    <a:latin typeface="Tahoma"/>
                    <a:cs typeface="Tahoma"/>
                  </a:rPr>
                  <a:t>اثر گیبس</a:t>
                </a:r>
                <a:r>
                  <a:rPr lang="fa-IR" dirty="0">
                    <a:latin typeface="Tahoma"/>
                    <a:cs typeface="Tahoma"/>
                  </a:rPr>
                  <a:t> است، نه ناپایداری.</a:t>
                </a:r>
              </a:p>
            </p:txBody>
          </p:sp>
        </mc:Choice>
      </mc:AlternateContent>
      <p:pic>
        <p:nvPicPr>
          <p:cNvPr descr="../figures_validation/ls_wave_validation_R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68400" y="876300"/>
            <a:ext cx="68199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 rtl="1" algn="r">
                  <a:buNone/>
                </a:pPr>
                <a:r>
                  <a:rPr lang="fa-IR" dirty="0">
                    <a:latin typeface="Tahoma"/>
                    <a:cs typeface="Tahoma"/>
                  </a:rPr>
                  <a:t>مش قفل‌شده: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15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z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11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، </a:t>
                </a:r>
                <a14:m>
                  <m:oMath xmlns:m="http://schemas.openxmlformats.org/officeDocument/2006/math">
                    <m:sSub>
                      <m:e>
                        <m:r>
                          <m:t>N</m:t>
                        </m:r>
                      </m:e>
                      <m:sub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</m:oMath>
                </a14:m>
              </a:p>
            </p:txBody>
          </p:sp>
        </mc:Choice>
      </mc:AlternateContent>
      <p:pic>
        <p:nvPicPr>
          <p:cNvPr descr="../figures_ch4_color/conv_mast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193800"/>
            <a:ext cx="448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۱: دمای میان‌جداری از مقدار محرک فراتر می‌رود (۱٫۱۱۵)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تا </a:t>
            </a:r>
            <a:r>
              <a:rPr b="1" lang="fa-IR" dirty="0">
                <a:latin typeface="Tahoma"/>
                <a:cs typeface="Tahoma"/>
              </a:rPr>
              <a:t>۱٫۱۱۵</a:t>
            </a:r>
            <a:r>
              <a:rPr lang="fa-IR" dirty="0">
                <a:latin typeface="Tahoma"/>
                <a:cs typeface="Tahoma"/>
              </a:rPr>
              <a:t> در کسر وزنی بالای گرافن و </a:t>
            </a:r>
            <a:r>
              <a:rPr b="1" lang="fa-IR" dirty="0">
                <a:latin typeface="Tahoma"/>
                <a:cs typeface="Tahoma"/>
              </a:rPr>
              <a:t>۱٫۱۰۹</a:t>
            </a:r>
            <a:r>
              <a:rPr lang="fa-IR" dirty="0">
                <a:latin typeface="Tahoma"/>
                <a:cs typeface="Tahoma"/>
              </a:rPr>
              <a:t> در تخلخل V؛ الگوی «قله-قعر» از بازتاب موج.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در مدل کلاسیک </a:t>
            </a:r>
            <a:r>
              <a:rPr b="1" lang="fa-IR" dirty="0">
                <a:latin typeface="Tahoma"/>
                <a:cs typeface="Tahoma"/>
              </a:rPr>
              <a:t>قابل بازتولید نیست</a:t>
            </a:r>
            <a:r>
              <a:rPr lang="fa-IR" dirty="0">
                <a:latin typeface="Tahoma"/>
                <a:cs typeface="Tahoma"/>
              </a:rPr>
              <a:t>.</a:t>
            </a:r>
          </a:p>
        </p:txBody>
      </p:sp>
      <p:pic>
        <p:nvPicPr>
          <p:cNvPr descr="../figures_ch4_color/C_relax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۲: گرافن V دما را ۲۹٪ و تنش را تا ۳ برابر کم می‌کند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b="1" lang="fa-IR" dirty="0">
                <a:latin typeface="Tahoma"/>
                <a:cs typeface="Tahoma"/>
              </a:rPr>
              <a:t>V</a:t>
            </a:r>
            <a:r>
              <a:rPr lang="fa-IR" dirty="0">
                <a:latin typeface="Tahoma"/>
                <a:cs typeface="Tahoma"/>
              </a:rPr>
              <a:t> (رسانا در سطح داخلیِ گرم): دمای بیشینه </a:t>
            </a:r>
            <a:r>
              <a:rPr b="1" lang="fa-IR" dirty="0">
                <a:latin typeface="Tahoma"/>
                <a:cs typeface="Tahoma"/>
              </a:rPr>
              <a:t>۲۹٪</a:t>
            </a:r>
            <a:r>
              <a:rPr lang="fa-IR" dirty="0">
                <a:latin typeface="Tahoma"/>
                <a:cs typeface="Tahoma"/>
              </a:rPr>
              <a:t> کمتر؛ تنش محیطی داخلی تا </a:t>
            </a:r>
            <a:r>
              <a:rPr b="1" lang="fa-IR" dirty="0">
                <a:latin typeface="Tahoma"/>
                <a:cs typeface="Tahoma"/>
              </a:rPr>
              <a:t>۳ برابر</a:t>
            </a:r>
            <a:r>
              <a:rPr lang="fa-IR" dirty="0">
                <a:latin typeface="Tahoma"/>
                <a:cs typeface="Tahoma"/>
              </a:rPr>
              <a:t> کمتر.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A</a:t>
            </a:r>
            <a:r>
              <a:rPr lang="fa-IR" dirty="0">
                <a:latin typeface="Tahoma"/>
                <a:cs typeface="Tahoma"/>
              </a:rPr>
              <a:t> (آینهٔ V) </a:t>
            </a:r>
            <a:r>
              <a:rPr b="1" lang="fa-IR" dirty="0">
                <a:latin typeface="Tahoma"/>
                <a:cs typeface="Tahoma"/>
              </a:rPr>
              <a:t>بدترین</a:t>
            </a:r>
            <a:r>
              <a:rPr lang="fa-IR" dirty="0">
                <a:latin typeface="Tahoma"/>
                <a:cs typeface="Tahoma"/>
              </a:rPr>
              <a:t> حالت در هر سه کمیت است.</a:t>
            </a:r>
          </a:p>
        </p:txBody>
      </p:sp>
      <p:pic>
        <p:nvPicPr>
          <p:cNvPr descr="../figures_ch4_color/A_GPL_patter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۳: تخلخل A همچون سد حرارتی، دمای سطح خارجی را ۸ برابر کم می‌کند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حفره‌ها در سطح خارجی </a:t>
            </a:r>
            <a:r>
              <a:rPr b="1" lang="fa-IR" dirty="0">
                <a:latin typeface="Tahoma"/>
                <a:cs typeface="Tahoma"/>
              </a:rPr>
              <a:t>سد حرارتی</a:t>
            </a:r>
            <a:r>
              <a:rPr lang="fa-IR" dirty="0">
                <a:latin typeface="Tahoma"/>
                <a:cs typeface="Tahoma"/>
              </a:rPr>
              <a:t> می‌سازند؛ اما </a:t>
            </a:r>
            <a:r>
              <a:rPr b="1" lang="fa-IR" dirty="0">
                <a:latin typeface="Tahoma"/>
                <a:cs typeface="Tahoma"/>
              </a:rPr>
              <a:t>علامت</a:t>
            </a:r>
            <a:r>
              <a:rPr lang="fa-IR" dirty="0">
                <a:latin typeface="Tahoma"/>
                <a:cs typeface="Tahoma"/>
              </a:rPr>
              <a:t> تنش محیطی داخلی را وارون می‌کنند.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الگوی V بیشترین قلهٔ گذرا را دارد (</a:t>
            </a:r>
            <a:r>
              <a:rPr b="1" lang="fa-IR" dirty="0">
                <a:latin typeface="Tahoma"/>
                <a:cs typeface="Tahoma"/>
              </a:rPr>
              <a:t>۱٫۱۱</a:t>
            </a:r>
            <a:r>
              <a:rPr lang="fa-IR" dirty="0">
                <a:latin typeface="Tahoma"/>
                <a:cs typeface="Tahoma"/>
              </a:rPr>
              <a:t>).</a:t>
            </a:r>
          </a:p>
        </p:txBody>
      </p:sp>
      <p:pic>
        <p:nvPicPr>
          <p:cNvPr descr="../figures_ch4_color/B_porosity_patter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۴ ★: گرافن V + تخلخل A هم‌افزاست — تا ۲۶ برابر کاهش دما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هم‌افزا:</a:t>
                </a:r>
                <a:r>
                  <a:rPr lang="fa-IR" dirty="0">
                    <a:latin typeface="Tahoma"/>
                    <a:cs typeface="Tahoma"/>
                  </a:rPr>
                  <a:t> V-گرافن با A-تخلخل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  <m:r>
                      <m:t>0.034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؛ </a:t>
                </a:r>
                <a:r>
                  <a:rPr b="1" lang="fa-IR" dirty="0">
                    <a:latin typeface="Tahoma"/>
                    <a:cs typeface="Tahoma"/>
                  </a:rPr>
                  <a:t>خنثی‌کننده:</a:t>
                </a:r>
                <a:r>
                  <a:rPr lang="fa-IR" dirty="0">
                    <a:latin typeface="Tahoma"/>
                    <a:cs typeface="Tahoma"/>
                  </a:rPr>
                  <a:t> V-گرافن با V-تخلخل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  <m:r>
                      <m:t>0.692</m:t>
                    </m:r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  <a:p>
                <a:pPr lvl="0" rtl="1" algn="r"/>
                <a:r>
                  <a:rPr b="1" lang="fa-IR" dirty="0">
                    <a:latin typeface="Tahoma"/>
                    <a:cs typeface="Tahoma"/>
                  </a:rPr>
                  <a:t>هم‌راستایی یا تقابل دو الگو</a:t>
                </a:r>
                <a:r>
                  <a:rPr lang="fa-IR" dirty="0">
                    <a:latin typeface="Tahoma"/>
                    <a:cs typeface="Tahoma"/>
                  </a:rPr>
                  <a:t> تعیین‌کننده است، نه انتخاب یک الگوی «خوب».</a:t>
                </a:r>
              </a:p>
            </p:txBody>
          </p:sp>
        </mc:Choice>
      </mc:AlternateContent>
      <p:pic>
        <p:nvPicPr>
          <p:cNvPr descr="../figures_ch4_color/matrix25_T_x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876300"/>
            <a:ext cx="39878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۵: آستانهٔ پرکولاسیون در کسر وزنی ≈ ۱٪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گذر از «عایق» به «رسانا»؛ بیشتر از آن، نفوذ حرارتی فقط </a:t>
            </a:r>
            <a:r>
              <a:rPr b="1" lang="fa-IR" dirty="0">
                <a:latin typeface="Tahoma"/>
                <a:cs typeface="Tahoma"/>
              </a:rPr>
              <a:t>هموار</a:t>
            </a:r>
            <a:r>
              <a:rPr lang="fa-IR" dirty="0">
                <a:latin typeface="Tahoma"/>
                <a:cs typeface="Tahoma"/>
              </a:rPr>
              <a:t> بهتر می‌شود اما </a:t>
            </a:r>
            <a:r>
              <a:rPr b="1" lang="fa-IR" dirty="0">
                <a:latin typeface="Tahoma"/>
                <a:cs typeface="Tahoma"/>
              </a:rPr>
              <a:t>تنش حرارتی دو برابر</a:t>
            </a:r>
            <a:r>
              <a:rPr lang="fa-IR" dirty="0">
                <a:latin typeface="Tahoma"/>
                <a:cs typeface="Tahoma"/>
              </a:rPr>
              <a:t> می‌شود (در ۸٪).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نسبت ابعادی پلاکت اثر </a:t>
            </a:r>
            <a:r>
              <a:rPr b="1" lang="fa-IR" dirty="0">
                <a:latin typeface="Tahoma"/>
                <a:cs typeface="Tahoma"/>
              </a:rPr>
              <a:t>درجهٔ دوم</a:t>
            </a:r>
            <a:r>
              <a:rPr lang="fa-IR" dirty="0">
                <a:latin typeface="Tahoma"/>
                <a:cs typeface="Tahoma"/>
              </a:rPr>
              <a:t> دارد (تنش &lt; ۲٪).</a:t>
            </a:r>
          </a:p>
        </p:txBody>
      </p:sp>
      <p:pic>
        <p:nvPicPr>
          <p:cNvPr descr="../figures_ch4_color/D_wt_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۶: در شوک گاوسی، بیشینهٔ دمای فوریه حدود ۲٫۵ برابر کمتر است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در شوک کوتاه‌مدت، انتخاب مدل هدایت بر پیش‌بینی بیشینهٔ دما اثر زیادی دارد.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حل ممزوج موج را حدود </a:t>
            </a:r>
            <a:r>
              <a:rPr b="1" lang="fa-IR" dirty="0">
                <a:latin typeface="Tahoma"/>
                <a:cs typeface="Tahoma"/>
              </a:rPr>
              <a:t>۱٪</a:t>
            </a:r>
            <a:r>
              <a:rPr lang="fa-IR" dirty="0">
                <a:latin typeface="Tahoma"/>
                <a:cs typeface="Tahoma"/>
              </a:rPr>
              <a:t> میرا می‌کند (میرایی ترموالاستیک).</a:t>
            </a:r>
          </a:p>
        </p:txBody>
      </p:sp>
      <p:pic>
        <p:nvPicPr>
          <p:cNvPr descr="../figures_ch4_color/M_gauss_shock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 ۷: مقایسهٔ چهار تئوری ترموالاستیسیته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فوریه / لرد-شولمن / DPL / گرین-نگدی III؛ تباهیدگی DPL در </a:t>
                </a:r>
                <a14:m>
                  <m:oMath xmlns:m="http://schemas.openxmlformats.org/officeDocument/2006/math"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τ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 lang="fa-IR" dirty="0">
                    <a:latin typeface="Tahoma"/>
                    <a:cs typeface="Tahoma"/>
                  </a:rPr>
                  <a:t>؛ فراجهش ماندگار GN-III.</a:t>
                </a:r>
              </a:p>
            </p:txBody>
          </p:sp>
        </mc:Choice>
      </mc:AlternateContent>
      <p:pic>
        <p:nvPicPr>
          <p:cNvPr descr="../figures_ch4_color/T3_theor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876300"/>
            <a:ext cx="42037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نوآوری‌های پژوهش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حل </a:t>
            </a:r>
            <a:r>
              <a:rPr b="1" lang="fa-IR" dirty="0">
                <a:latin typeface="Tahoma"/>
                <a:cs typeface="Tahoma"/>
              </a:rPr>
              <a:t>کاملاً ممزوج</a:t>
            </a:r>
            <a:r>
              <a:rPr lang="fa-IR" dirty="0">
                <a:latin typeface="Tahoma"/>
                <a:cs typeface="Tahoma"/>
              </a:rPr>
              <a:t> لرد-شولمن برای استوانهٔ چندلایهٔ متخلخلِ گرافنی با DQM لایه‌ایِ دوبعدی.</a:t>
            </a:r>
          </a:p>
          <a:p>
            <a:pPr lvl="0" indent="-342900" marL="342900" rtl="1" algn="r">
              <a:buAutoNum type="arabicPeriod"/>
            </a:pPr>
            <a:r>
              <a:rPr b="1" lang="fa-IR" dirty="0">
                <a:latin typeface="Tahoma"/>
                <a:cs typeface="Tahoma"/>
              </a:rPr>
              <a:t>برهم‌کنش هم‌افزای V-گرافن و A-تخلخل</a:t>
            </a:r>
            <a:r>
              <a:rPr lang="fa-IR" dirty="0">
                <a:latin typeface="Tahoma"/>
                <a:cs typeface="Tahoma"/>
              </a:rPr>
              <a:t> و </a:t>
            </a:r>
            <a:r>
              <a:rPr b="1" lang="fa-IR" dirty="0">
                <a:latin typeface="Tahoma"/>
                <a:cs typeface="Tahoma"/>
              </a:rPr>
              <a:t>ماتریس کامل ۵×۵</a:t>
            </a:r>
            <a:r>
              <a:rPr lang="fa-IR" dirty="0">
                <a:latin typeface="Tahoma"/>
                <a:cs typeface="Tahoma"/>
              </a:rPr>
              <a:t> که در مراجع پیشین همتا ندارد.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رفتار </a:t>
            </a:r>
            <a:r>
              <a:rPr b="1" lang="fa-IR" dirty="0">
                <a:latin typeface="Tahoma"/>
                <a:cs typeface="Tahoma"/>
              </a:rPr>
              <a:t>«قله-قعر»</a:t>
            </a:r>
            <a:r>
              <a:rPr lang="fa-IR" dirty="0">
                <a:latin typeface="Tahoma"/>
                <a:cs typeface="Tahoma"/>
              </a:rPr>
              <a:t> و آینه‌ایِ الگوها و پیوند آن با سرشت موجی هدایت.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سه مطالعهٔ گسترشی: شش انتگرال‌گیر زمانی، چهار روش مکانی، چهار تئوری.</a:t>
            </a:r>
          </a:p>
          <a:p>
            <a:pPr lvl="0" indent="-342900" marL="342900" rtl="1" algn="r">
              <a:buAutoNum type="arabicPeriod"/>
            </a:pPr>
            <a:r>
              <a:rPr lang="fa-IR" dirty="0">
                <a:latin typeface="Tahoma"/>
                <a:cs typeface="Tahoma"/>
              </a:rPr>
              <a:t>صحت‌سنجی </a:t>
            </a:r>
            <a:r>
              <a:rPr b="1" lang="fa-IR" dirty="0">
                <a:latin typeface="Tahoma"/>
                <a:cs typeface="Tahoma"/>
              </a:rPr>
              <a:t>کمّی</a:t>
            </a:r>
            <a:r>
              <a:rPr lang="fa-IR" dirty="0">
                <a:latin typeface="Tahoma"/>
                <a:cs typeface="Tahoma"/>
              </a:rPr>
              <a:t> موج صوت دوم در برابر حل دقیق تحلیلی.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نتیجه‌گیری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در </a:t>
            </a:r>
            <a:r>
              <a:rPr b="1" lang="fa-IR" dirty="0">
                <a:latin typeface="Tahoma"/>
                <a:cs typeface="Tahoma"/>
              </a:rPr>
              <a:t>شوک حرارتی گذرا</a:t>
            </a:r>
            <a:r>
              <a:rPr lang="fa-IR" dirty="0">
                <a:latin typeface="Tahoma"/>
                <a:cs typeface="Tahoma"/>
              </a:rPr>
              <a:t>، پیش‌بینی دما و تنش به انتخاب مدل هدایت حساس است؛ در پالس گاوسی فوریه بیشینهٔ دما را حدود ۲٫۵ برابر کمتر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از دیدگاه طراحی، </a:t>
            </a:r>
            <a:r>
              <a:rPr b="1" lang="fa-IR" dirty="0">
                <a:latin typeface="Tahoma"/>
                <a:cs typeface="Tahoma"/>
              </a:rPr>
              <a:t>هم‌راستاسازی گرافن و تخلخل (V-A)</a:t>
            </a:r>
            <a:r>
              <a:rPr lang="fa-IR" dirty="0">
                <a:latin typeface="Tahoma"/>
                <a:cs typeface="Tahoma"/>
              </a:rPr>
              <a:t> بهترین رفتار حرارتی را با کمترین جریمهٔ تنش می‌دهد.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انتخاب الگو باید </a:t>
            </a:r>
            <a:r>
              <a:rPr b="1" lang="fa-IR" dirty="0">
                <a:latin typeface="Tahoma"/>
                <a:cs typeface="Tahoma"/>
              </a:rPr>
              <a:t>هم‌زمان</a:t>
            </a:r>
            <a:r>
              <a:rPr lang="fa-IR" dirty="0">
                <a:latin typeface="Tahoma"/>
                <a:cs typeface="Tahoma"/>
              </a:rPr>
              <a:t> از منظر دما و تنش سنجیده شود.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DQM لایه‌ای + نیومارک</a:t>
            </a:r>
            <a:r>
              <a:rPr lang="fa-IR" dirty="0">
                <a:latin typeface="Tahoma"/>
                <a:cs typeface="Tahoma"/>
              </a:rPr>
              <a:t> ابزاری کارآمد و صحت‌سنجی‌شده است.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محدودیت‌ها و پیشنهادها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b="1" lang="fa-IR" dirty="0">
                <a:latin typeface="Tahoma"/>
                <a:cs typeface="Tahoma"/>
              </a:rPr>
              <a:t>محدودیت‌ها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خواص مادی </a:t>
            </a:r>
            <a:r>
              <a:rPr b="1" lang="fa-IR" dirty="0">
                <a:latin typeface="Tahoma"/>
                <a:cs typeface="Tahoma"/>
              </a:rPr>
              <a:t>مستقل از دما</a:t>
            </a:r>
            <a:r>
              <a:rPr lang="fa-IR" dirty="0">
                <a:latin typeface="Tahoma"/>
                <a:cs typeface="Tahoma"/>
              </a:rPr>
              <a:t>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مدل </a:t>
            </a:r>
            <a:r>
              <a:rPr b="1" lang="fa-IR" dirty="0">
                <a:latin typeface="Tahoma"/>
                <a:cs typeface="Tahoma"/>
              </a:rPr>
              <a:t>الاستیک خطی</a:t>
            </a:r>
            <a:r>
              <a:rPr lang="fa-IR" dirty="0">
                <a:latin typeface="Tahoma"/>
                <a:cs typeface="Tahoma"/>
              </a:rPr>
              <a:t>، بدون معیار آسیب/شکست.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پیوند </a:t>
            </a:r>
            <a:r>
              <a:rPr b="1" lang="fa-IR" dirty="0">
                <a:latin typeface="Tahoma"/>
                <a:cs typeface="Tahoma"/>
              </a:rPr>
              <a:t>کامل</a:t>
            </a:r>
            <a:r>
              <a:rPr lang="fa-IR" dirty="0">
                <a:latin typeface="Tahoma"/>
                <a:cs typeface="Tahoma"/>
              </a:rPr>
              <a:t> بین‌لایه‌ای (بدون مقاومت حرارتی فصل‌مشترک).</a:t>
            </a:r>
          </a:p>
          <a:p>
            <a:pPr lvl="0" indent="0" marL="0" rtl="1" algn="r">
              <a:buNone/>
            </a:pPr>
            <a:r>
              <a:rPr b="1" lang="fa-IR" dirty="0">
                <a:latin typeface="Tahoma"/>
                <a:cs typeface="Tahoma"/>
              </a:rPr>
              <a:t>پیشنهادها</a:t>
            </a:r>
          </a:p>
          <a:p>
            <a:pPr lvl="0" rtl="1" algn="r"/>
            <a:r>
              <a:rPr lang="fa-IR" dirty="0">
                <a:latin typeface="Tahoma"/>
                <a:cs typeface="Tahoma"/>
              </a:rPr>
              <a:t>وابستگی خواص به دما و رفتار </a:t>
            </a:r>
            <a:r>
              <a:rPr b="1" lang="fa-IR" dirty="0">
                <a:latin typeface="Tahoma"/>
                <a:cs typeface="Tahoma"/>
              </a:rPr>
              <a:t>غیرخطی/آسیب</a:t>
            </a:r>
            <a:r>
              <a:rPr lang="fa-IR" dirty="0">
                <a:latin typeface="Tahoma"/>
                <a:cs typeface="Tahoma"/>
              </a:rPr>
              <a:t>؛ </a:t>
            </a:r>
            <a:r>
              <a:rPr b="1" lang="fa-IR" dirty="0">
                <a:latin typeface="Tahoma"/>
                <a:cs typeface="Tahoma"/>
              </a:rPr>
              <a:t>مقاومت حرارتی فصل‌مشترک</a:t>
            </a:r>
            <a:r>
              <a:rPr lang="fa-IR" dirty="0">
                <a:latin typeface="Tahoma"/>
                <a:cs typeface="Tahoma"/>
              </a:rPr>
              <a:t>.</a:t>
            </a:r>
          </a:p>
          <a:p>
            <a:pPr lvl="0" rtl="1" algn="r"/>
            <a:r>
              <a:rPr b="1" lang="fa-IR" dirty="0">
                <a:latin typeface="Tahoma"/>
                <a:cs typeface="Tahoma"/>
              </a:rPr>
              <a:t>صحت‌سنجی تجربی</a:t>
            </a:r>
            <a:r>
              <a:rPr lang="fa-IR" dirty="0">
                <a:latin typeface="Tahoma"/>
                <a:cs typeface="Tahoma"/>
              </a:rPr>
              <a:t> و نمودار طراحیِ مهندسی بر پایهٔ یافتهٔ V-A.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با تشکر از توجه شما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پرسش و پاسخ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اسلایدهای پشتیبان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پشتیبان ۱ — آزمون ۱: حد استاتیکی (شکل ۴-۵)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rtl="1" algn="r"/>
                <a:r>
                  <a:rPr lang="fa-IR" dirty="0">
                    <a:latin typeface="Tahoma"/>
                    <a:cs typeface="Tahoma"/>
                  </a:rPr>
                  <a:t>۴۵ نقطهٔ شعاعی؛ بیشینهٔ اختلاف مطلق </a:t>
                </a:r>
                <a14:m>
                  <m:oMath xmlns:m="http://schemas.openxmlformats.org/officeDocument/2006/math">
                    <m:r>
                      <m:t>2.1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14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 m و نسبی </a:t>
                </a:r>
                <a14:m>
                  <m:oMath xmlns:m="http://schemas.openxmlformats.org/officeDocument/2006/math">
                    <m:r>
                      <m:t>2.2</m:t>
                    </m:r>
                    <m:r>
                      <m:rPr>
                        <m:sty m:val="p"/>
                      </m:rPr>
                      <m:t>×</m:t>
                    </m:r>
                    <m:sSup>
                      <m:e>
                        <m:r>
                          <m:t>10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11</m:t>
                        </m:r>
                      </m:sup>
                    </m:sSup>
                  </m:oMath>
                </a14:m>
                <a:r>
                  <a:rPr lang="fa-IR" dirty="0">
                    <a:latin typeface="Tahoma"/>
                    <a:cs typeface="Tahoma"/>
                  </a:rPr>
                  <a:t>.</a:t>
                </a:r>
              </a:p>
            </p:txBody>
          </p:sp>
        </mc:Choice>
      </mc:AlternateContent>
      <p:pic>
        <p:nvPicPr>
          <p:cNvPr descr="../figures_validation/verif_test1_static_R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0000"/>
            <a:ext cx="8229600" cy="700000"/>
          </a:xfrm>
        </p:spPr>
        <p:txBody>
          <a:bodyPr/>
          <a:lstStyle/>
          <a:p>
            <a:pPr lvl="0" indent="0" marL="0" rtl="1" algn="r">
              <a:buNone/>
            </a:pPr>
            <a:r>
              <a:rPr lang="fa-IR" dirty="0">
                <a:latin typeface="Tahoma"/>
                <a:cs typeface="Tahoma"/>
              </a:rPr>
              <a:t>پشتیبان ۲ — آزمون ۴: انتگرال‌گیر زمانی (شکل ۴-۸)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rtl="1" algn="r"/>
            <a:r>
              <a:rPr lang="fa-IR" dirty="0">
                <a:latin typeface="Tahoma"/>
                <a:cs typeface="Tahoma"/>
              </a:rPr>
              <a:t>خطای بیشینه: نیومارک </a:t>
            </a:r>
            <a:r>
              <a:rPr b="1" lang="fa-IR" dirty="0">
                <a:latin typeface="Tahoma"/>
                <a:cs typeface="Tahoma"/>
              </a:rPr>
              <a:t>۰٫۰۰۳۱۹ K</a:t>
            </a:r>
            <a:r>
              <a:rPr lang="fa-IR" dirty="0">
                <a:latin typeface="Tahoma"/>
                <a:cs typeface="Tahoma"/>
              </a:rPr>
              <a:t>، </a:t>
            </a:r>
            <a:r>
              <a:rPr lang="fa-IR" dirty="0">
                <a:latin typeface="Tahoma"/>
                <a:cs typeface="Tahoma"/>
              </a:rPr>
              <a:t>ode15s</a:t>
            </a:r>
            <a:r>
              <a:rPr lang="fa-IR" dirty="0">
                <a:latin typeface="Tahoma"/>
                <a:cs typeface="Tahoma"/>
              </a:rPr>
              <a:t/>
            </a:r>
            <a:r>
              <a:rPr b="1" lang="fa-IR" dirty="0">
                <a:latin typeface="Tahoma"/>
                <a:cs typeface="Tahoma"/>
              </a:rPr>
              <a:t>۰٫۰۰۰۲۶ K</a:t>
            </a:r>
            <a:r>
              <a:rPr lang="fa-IR" dirty="0">
                <a:latin typeface="Tahoma"/>
                <a:cs typeface="Tahoma"/>
              </a:rPr>
              <a:t>؛ هزینهٔ نیومارک حدود یک‌دهم.</a:t>
            </a:r>
          </a:p>
        </p:txBody>
      </p:sp>
      <p:pic>
        <p:nvPicPr>
          <p:cNvPr descr="../figures_validation/verif_test4_integrator_R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876300"/>
            <a:ext cx="4724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1B2A41"/>
      </a:dk1>
      <a:lt1>
        <a:sysClr val="window" lastClr="FFFFFF"/>
      </a:lt1>
      <a:dk2>
        <a:srgbClr val="1F497D"/>
      </a:dk2>
      <a:lt2>
        <a:srgbClr val="EEECE1"/>
      </a:lt2>
      <a:accent1>
        <a:srgbClr val="E4572E"/>
      </a:accent1>
      <a:accent2>
        <a:srgbClr val="17A398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تحلیل ترموالاستیک استوانه‌های متخلخلِ تقویت‌شده با پلاکت‌های گرافنی تحت بارِ ترمو-مکانیکی با استفاده از تئوری لرد-شولمن</dc:title>
  <dc:creator>نگارنده: ‹نام دانشجو› | استاد راهنما: ‹نام استاد راهنما›</dc:creator>
  <cp:keywords/>
  <dcterms:created xsi:type="dcterms:W3CDTF">2026-10-12T18:32:37Z</dcterms:created>
  <dcterms:modified xsi:type="dcterms:W3CDTF">2026-10-12T18:32:37Z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‹نام دانشگاه و دانشکده› — ‹تاریخ دفاع›</vt:lpwstr>
  </property>
</Properties>
</file>