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notesMaster" Target="notesMasters/notesMaster1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با یک جملهٔ ملموس شروع کنید: «اگر جدارهٔ یک مخزن در چند ثانیه ۳۰۰ درجه گرم شود، مدل کلاسیک عملاً می‌گوید اثرِ آن بلافاصله به سطح بیرونی می‌رسد — که فیزیکی نیست.»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اینجا اثبات می‌کنید «چرا کار شما تازه است». نام دو سه مرجعِ نزدیک را آماده داشته باشید و تفاوتتان را در یک جمله بگویید.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تأکید: </a:t>
            </a:r>
            <a:r>
              <a:rPr/>
              <a:t>\tau^*=0.15</a:t>
            </a:r>
            <a:r>
              <a:rPr/>
              <a:t> پارامتر بی‌بعدِ اصلی است؛ </a:t>
            </a:r>
            <a:r>
              <a:rPr/>
              <a:t>\tau_0=418</a:t>
            </a:r>
            <a:r>
              <a:rPr/>
              <a:t> s مقیاس‌گذاریِ جدارهٔ ۰٫۵ متری است، نه خاصیتِ اندازه‌گیری‌شدهٔ یک ماده. اگر پرسیدند، بگویید این یک مطالعهٔ پارامتریِ بی‌بعد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تأکید کنید V و A آینهٔ یکدیگرند — این نکته بعداً در یافتهٔ هم‌افزایی کلیدی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فقط همین یک معادله را نشان دهید. اگر جزئیات استخراج را خواستند، اسلاید پشتیبان (فصل ۳) را باز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اگر زمان کم است، این اسلاید و اسلاید قبل را حذف یا به پشتیبان ببرید.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این مهم‌ترین سپرِ دفاعی شماست. آرام و با اعتمادبه‌نفس بخوانید.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جابجایی شعاعی بی‌بعد سطح داخلی در برابر زمان؛ حل حاضر، مرجع و ANSYS. اختلاف ۰٫۱ تا ۰٫۲٪.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نشانگرها حل حاضر و خط پیوسته حل دقیق سری بسل است؛ خطای </a:t>
            </a:r>
            <a:r>
              <a:rPr/>
              <a:t>10^{-5}</a:t>
            </a:r>
            <a:r>
              <a:rPr/>
              <a:t> تا </a:t>
            </a:r>
            <a:r>
              <a:rPr/>
              <a:t>10^{-7}</a:t>
            </a:r>
            <a:r>
              <a:rPr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اگر پرسیدند «چرا مرجع تحلیلی و نه مقالهٔ چاپ‌شده؟» بگویید: حل دقیق برای همین هندسه استخراج شده، پس مقایسه بدون خطای رقمی‌سازیِ شکلِ مرجع و بدون اختلاف در فرضیات انجام می‌شود. پیشانی موج با دقت کمتر از یک فاصلهٔ شبکه ردیابی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راستای محوری راستای مقیدکننده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این مهم‌ترین یافتهٔ پایان‌نامه است. اینجا سرعت را کم کنید، جمله‌بندی را دقیق بگویید و توصیهٔ طراحی را صریح اعلام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این قوی‌ترین استدلال شما به سود تئوری تعمیم‌یافته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1pPr>
            <a:lvl2pPr marL="34290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2pPr>
            <a:lvl3pPr marL="68580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3pPr>
            <a:lvl4pPr marL="102870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4pPr>
            <a:lvl5pPr marL="137160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5pPr>
            <a:lvl6pPr marL="171450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6pPr>
            <a:lvl7pPr marL="205740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7pPr>
            <a:lvl8pPr marL="240030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8pPr>
            <a:lvl9pPr marL="274320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9pPr>
          </a:lstStyle>
          <a:p>
            <a:pPr rtl="1" algn="r"/>
            <a:r>
              <a:rPr lang="fa-IR" dirty="0">
                <a:latin typeface="Tahoma"/>
                <a:cs typeface="Tahoma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 lang="fa-IR" dirty="0">
                <a:latin typeface="Tahoma"/>
                <a:cs typeface="Tahoma"/>
              </a:defRPr>
            </a:lvl1pPr>
          </a:lstStyle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1pPr>
            <a:lvl2pPr marL="342900" indent="0">
              <a:buNone/>
              <a:defRPr sz="135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2pPr>
            <a:lvl3pPr marL="685800" indent="0">
              <a:buNone/>
              <a:defRPr sz="120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3pPr>
            <a:lvl4pPr marL="1028700" indent="0">
              <a:buNone/>
              <a:defRPr sz="105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4pPr>
            <a:lvl5pPr marL="1371600" indent="0">
              <a:buNone/>
              <a:defRPr sz="105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5pPr>
            <a:lvl6pPr marL="1714500" indent="0">
              <a:buNone/>
              <a:defRPr sz="105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6pPr>
            <a:lvl7pPr marL="2057400" indent="0">
              <a:buNone/>
              <a:defRPr sz="105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7pPr>
            <a:lvl8pPr marL="2400300" indent="0">
              <a:buNone/>
              <a:defRPr sz="105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8pPr>
            <a:lvl9pPr marL="2743200" indent="0">
              <a:buNone/>
              <a:defRPr sz="105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 lang="fa-IR" dirty="0">
                <a:latin typeface="Tahoma"/>
                <a:cs typeface="Tahoma"/>
              </a:defRPr>
            </a:lvl1pPr>
            <a:lvl2pPr>
              <a:defRPr sz="1800" lang="fa-IR" dirty="0">
                <a:latin typeface="Tahoma"/>
                <a:cs typeface="Tahoma"/>
              </a:defRPr>
            </a:lvl2pPr>
            <a:lvl3pPr>
              <a:defRPr sz="1500" lang="fa-IR" dirty="0">
                <a:latin typeface="Tahoma"/>
                <a:cs typeface="Tahoma"/>
              </a:defRPr>
            </a:lvl3pPr>
            <a:lvl4pPr>
              <a:defRPr sz="1350" lang="fa-IR" dirty="0">
                <a:latin typeface="Tahoma"/>
                <a:cs typeface="Tahoma"/>
              </a:defRPr>
            </a:lvl4pPr>
            <a:lvl5pPr>
              <a:defRPr sz="1350" lang="fa-IR" dirty="0">
                <a:latin typeface="Tahoma"/>
                <a:cs typeface="Tahoma"/>
              </a:defRPr>
            </a:lvl5pPr>
            <a:lvl6pPr>
              <a:defRPr sz="1350" lang="fa-IR" dirty="0">
                <a:latin typeface="Tahoma"/>
                <a:cs typeface="Tahoma"/>
              </a:defRPr>
            </a:lvl6pPr>
            <a:lvl7pPr>
              <a:defRPr sz="1350" lang="fa-IR" dirty="0">
                <a:latin typeface="Tahoma"/>
                <a:cs typeface="Tahoma"/>
              </a:defRPr>
            </a:lvl7pPr>
            <a:lvl8pPr>
              <a:defRPr sz="1350" lang="fa-IR" dirty="0">
                <a:latin typeface="Tahoma"/>
                <a:cs typeface="Tahoma"/>
              </a:defRPr>
            </a:lvl8pPr>
            <a:lvl9pPr>
              <a:defRPr sz="1350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 lang="fa-IR" dirty="0">
                <a:latin typeface="Tahoma"/>
                <a:cs typeface="Tahoma"/>
              </a:defRPr>
            </a:lvl1pPr>
            <a:lvl2pPr>
              <a:defRPr sz="1800" lang="fa-IR" dirty="0">
                <a:latin typeface="Tahoma"/>
                <a:cs typeface="Tahoma"/>
              </a:defRPr>
            </a:lvl2pPr>
            <a:lvl3pPr>
              <a:defRPr sz="1500" lang="fa-IR" dirty="0">
                <a:latin typeface="Tahoma"/>
                <a:cs typeface="Tahoma"/>
              </a:defRPr>
            </a:lvl3pPr>
            <a:lvl4pPr>
              <a:defRPr sz="1350" lang="fa-IR" dirty="0">
                <a:latin typeface="Tahoma"/>
                <a:cs typeface="Tahoma"/>
              </a:defRPr>
            </a:lvl4pPr>
            <a:lvl5pPr>
              <a:defRPr sz="1350" lang="fa-IR" dirty="0">
                <a:latin typeface="Tahoma"/>
                <a:cs typeface="Tahoma"/>
              </a:defRPr>
            </a:lvl5pPr>
            <a:lvl6pPr>
              <a:defRPr sz="1350" lang="fa-IR" dirty="0">
                <a:latin typeface="Tahoma"/>
                <a:cs typeface="Tahoma"/>
              </a:defRPr>
            </a:lvl6pPr>
            <a:lvl7pPr>
              <a:defRPr sz="1350" lang="fa-IR" dirty="0">
                <a:latin typeface="Tahoma"/>
                <a:cs typeface="Tahoma"/>
              </a:defRPr>
            </a:lvl7pPr>
            <a:lvl8pPr>
              <a:defRPr sz="1350" lang="fa-IR" dirty="0">
                <a:latin typeface="Tahoma"/>
                <a:cs typeface="Tahoma"/>
              </a:defRPr>
            </a:lvl8pPr>
            <a:lvl9pPr>
              <a:defRPr sz="1350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fa-IR" dirty="0">
                <a:latin typeface="Tahoma"/>
                <a:cs typeface="Tahoma"/>
              </a:defRPr>
            </a:lvl1pPr>
          </a:lstStyle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 lang="fa-IR" dirty="0">
                <a:latin typeface="Tahoma"/>
                <a:cs typeface="Tahoma"/>
              </a:defRPr>
            </a:lvl1pPr>
            <a:lvl2pPr marL="342900" indent="0">
              <a:buNone/>
              <a:defRPr sz="1500" b="1" lang="fa-IR" dirty="0">
                <a:latin typeface="Tahoma"/>
                <a:cs typeface="Tahoma"/>
              </a:defRPr>
            </a:lvl2pPr>
            <a:lvl3pPr marL="685800" indent="0">
              <a:buNone/>
              <a:defRPr sz="1350" b="1" lang="fa-IR" dirty="0">
                <a:latin typeface="Tahoma"/>
                <a:cs typeface="Tahoma"/>
              </a:defRPr>
            </a:lvl3pPr>
            <a:lvl4pPr marL="1028700" indent="0">
              <a:buNone/>
              <a:defRPr sz="1200" b="1" lang="fa-IR" dirty="0">
                <a:latin typeface="Tahoma"/>
                <a:cs typeface="Tahoma"/>
              </a:defRPr>
            </a:lvl4pPr>
            <a:lvl5pPr marL="1371600" indent="0">
              <a:buNone/>
              <a:defRPr sz="1200" b="1" lang="fa-IR" dirty="0">
                <a:latin typeface="Tahoma"/>
                <a:cs typeface="Tahoma"/>
              </a:defRPr>
            </a:lvl5pPr>
            <a:lvl6pPr marL="1714500" indent="0">
              <a:buNone/>
              <a:defRPr sz="1200" b="1" lang="fa-IR" dirty="0">
                <a:latin typeface="Tahoma"/>
                <a:cs typeface="Tahoma"/>
              </a:defRPr>
            </a:lvl6pPr>
            <a:lvl7pPr marL="2057400" indent="0">
              <a:buNone/>
              <a:defRPr sz="1200" b="1" lang="fa-IR" dirty="0">
                <a:latin typeface="Tahoma"/>
                <a:cs typeface="Tahoma"/>
              </a:defRPr>
            </a:lvl7pPr>
            <a:lvl8pPr marL="2400300" indent="0">
              <a:buNone/>
              <a:defRPr sz="1200" b="1" lang="fa-IR" dirty="0">
                <a:latin typeface="Tahoma"/>
                <a:cs typeface="Tahoma"/>
              </a:defRPr>
            </a:lvl8pPr>
            <a:lvl9pPr marL="2743200" indent="0">
              <a:buNone/>
              <a:defRPr sz="1200" b="1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 lang="fa-IR" dirty="0">
                <a:latin typeface="Tahoma"/>
                <a:cs typeface="Tahoma"/>
              </a:defRPr>
            </a:lvl1pPr>
            <a:lvl2pPr>
              <a:defRPr sz="1500" lang="fa-IR" dirty="0">
                <a:latin typeface="Tahoma"/>
                <a:cs typeface="Tahoma"/>
              </a:defRPr>
            </a:lvl2pPr>
            <a:lvl3pPr>
              <a:defRPr sz="1350" lang="fa-IR" dirty="0">
                <a:latin typeface="Tahoma"/>
                <a:cs typeface="Tahoma"/>
              </a:defRPr>
            </a:lvl3pPr>
            <a:lvl4pPr>
              <a:defRPr sz="1200" lang="fa-IR" dirty="0">
                <a:latin typeface="Tahoma"/>
                <a:cs typeface="Tahoma"/>
              </a:defRPr>
            </a:lvl4pPr>
            <a:lvl5pPr>
              <a:defRPr sz="1200" lang="fa-IR" dirty="0">
                <a:latin typeface="Tahoma"/>
                <a:cs typeface="Tahoma"/>
              </a:defRPr>
            </a:lvl5pPr>
            <a:lvl6pPr>
              <a:defRPr sz="1200" lang="fa-IR" dirty="0">
                <a:latin typeface="Tahoma"/>
                <a:cs typeface="Tahoma"/>
              </a:defRPr>
            </a:lvl6pPr>
            <a:lvl7pPr>
              <a:defRPr sz="1200" lang="fa-IR" dirty="0">
                <a:latin typeface="Tahoma"/>
                <a:cs typeface="Tahoma"/>
              </a:defRPr>
            </a:lvl7pPr>
            <a:lvl8pPr>
              <a:defRPr sz="1200" lang="fa-IR" dirty="0">
                <a:latin typeface="Tahoma"/>
                <a:cs typeface="Tahoma"/>
              </a:defRPr>
            </a:lvl8pPr>
            <a:lvl9pPr>
              <a:defRPr sz="1200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 lang="fa-IR" dirty="0">
                <a:latin typeface="Tahoma"/>
                <a:cs typeface="Tahoma"/>
              </a:defRPr>
            </a:lvl1pPr>
            <a:lvl2pPr marL="342900" indent="0">
              <a:buNone/>
              <a:defRPr sz="1500" b="1" lang="fa-IR" dirty="0">
                <a:latin typeface="Tahoma"/>
                <a:cs typeface="Tahoma"/>
              </a:defRPr>
            </a:lvl2pPr>
            <a:lvl3pPr marL="685800" indent="0">
              <a:buNone/>
              <a:defRPr sz="1350" b="1" lang="fa-IR" dirty="0">
                <a:latin typeface="Tahoma"/>
                <a:cs typeface="Tahoma"/>
              </a:defRPr>
            </a:lvl3pPr>
            <a:lvl4pPr marL="1028700" indent="0">
              <a:buNone/>
              <a:defRPr sz="1200" b="1" lang="fa-IR" dirty="0">
                <a:latin typeface="Tahoma"/>
                <a:cs typeface="Tahoma"/>
              </a:defRPr>
            </a:lvl4pPr>
            <a:lvl5pPr marL="1371600" indent="0">
              <a:buNone/>
              <a:defRPr sz="1200" b="1" lang="fa-IR" dirty="0">
                <a:latin typeface="Tahoma"/>
                <a:cs typeface="Tahoma"/>
              </a:defRPr>
            </a:lvl5pPr>
            <a:lvl6pPr marL="1714500" indent="0">
              <a:buNone/>
              <a:defRPr sz="1200" b="1" lang="fa-IR" dirty="0">
                <a:latin typeface="Tahoma"/>
                <a:cs typeface="Tahoma"/>
              </a:defRPr>
            </a:lvl6pPr>
            <a:lvl7pPr marL="2057400" indent="0">
              <a:buNone/>
              <a:defRPr sz="1200" b="1" lang="fa-IR" dirty="0">
                <a:latin typeface="Tahoma"/>
                <a:cs typeface="Tahoma"/>
              </a:defRPr>
            </a:lvl7pPr>
            <a:lvl8pPr marL="2400300" indent="0">
              <a:buNone/>
              <a:defRPr sz="1200" b="1" lang="fa-IR" dirty="0">
                <a:latin typeface="Tahoma"/>
                <a:cs typeface="Tahoma"/>
              </a:defRPr>
            </a:lvl8pPr>
            <a:lvl9pPr marL="2743200" indent="0">
              <a:buNone/>
              <a:defRPr sz="1200" b="1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 lang="fa-IR" dirty="0">
                <a:latin typeface="Tahoma"/>
                <a:cs typeface="Tahoma"/>
              </a:defRPr>
            </a:lvl1pPr>
            <a:lvl2pPr>
              <a:defRPr sz="1500" lang="fa-IR" dirty="0">
                <a:latin typeface="Tahoma"/>
                <a:cs typeface="Tahoma"/>
              </a:defRPr>
            </a:lvl2pPr>
            <a:lvl3pPr>
              <a:defRPr sz="1350" lang="fa-IR" dirty="0">
                <a:latin typeface="Tahoma"/>
                <a:cs typeface="Tahoma"/>
              </a:defRPr>
            </a:lvl3pPr>
            <a:lvl4pPr>
              <a:defRPr sz="1200" lang="fa-IR" dirty="0">
                <a:latin typeface="Tahoma"/>
                <a:cs typeface="Tahoma"/>
              </a:defRPr>
            </a:lvl4pPr>
            <a:lvl5pPr>
              <a:defRPr sz="1200" lang="fa-IR" dirty="0">
                <a:latin typeface="Tahoma"/>
                <a:cs typeface="Tahoma"/>
              </a:defRPr>
            </a:lvl5pPr>
            <a:lvl6pPr>
              <a:defRPr sz="1200" lang="fa-IR" dirty="0">
                <a:latin typeface="Tahoma"/>
                <a:cs typeface="Tahoma"/>
              </a:defRPr>
            </a:lvl6pPr>
            <a:lvl7pPr>
              <a:defRPr sz="1200" lang="fa-IR" dirty="0">
                <a:latin typeface="Tahoma"/>
                <a:cs typeface="Tahoma"/>
              </a:defRPr>
            </a:lvl7pPr>
            <a:lvl8pPr>
              <a:defRPr sz="1200" lang="fa-IR" dirty="0">
                <a:latin typeface="Tahoma"/>
                <a:cs typeface="Tahoma"/>
              </a:defRPr>
            </a:lvl8pPr>
            <a:lvl9pPr>
              <a:defRPr sz="1200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000"/>
            <a:ext cx="8229600" cy="700000"/>
          </a:xfrm>
        </p:spPr>
        <p:txBody>
          <a:bodyPr anchor="ctr"/>
          <a:lstStyle>
            <a:lvl1pPr algn="r">
              <a:defRPr sz="2200" b="1" lang="fa-IR" dirty="0">
                <a:latin typeface="Tahoma"/>
                <a:cs typeface="Tahoma"/>
              </a:defRPr>
            </a:lvl1pPr>
          </a:lstStyle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0000"/>
            <a:ext cx="8229600" cy="2930000"/>
          </a:xfrm>
        </p:spPr>
        <p:txBody>
          <a:bodyPr/>
          <a:lstStyle>
            <a:lvl1pPr>
              <a:defRPr sz="2400" lang="fa-IR" dirty="0">
                <a:latin typeface="Tahoma"/>
                <a:cs typeface="Tahoma"/>
              </a:defRPr>
            </a:lvl1pPr>
            <a:lvl2pPr>
              <a:defRPr sz="2100" lang="fa-IR" dirty="0">
                <a:latin typeface="Tahoma"/>
                <a:cs typeface="Tahoma"/>
              </a:defRPr>
            </a:lvl2pPr>
            <a:lvl3pPr>
              <a:defRPr sz="1800" lang="fa-IR" dirty="0">
                <a:latin typeface="Tahoma"/>
                <a:cs typeface="Tahoma"/>
              </a:defRPr>
            </a:lvl3pPr>
            <a:lvl4pPr>
              <a:defRPr sz="1500" lang="fa-IR" dirty="0">
                <a:latin typeface="Tahoma"/>
                <a:cs typeface="Tahoma"/>
              </a:defRPr>
            </a:lvl4pPr>
            <a:lvl5pPr>
              <a:defRPr sz="1500" lang="fa-IR" dirty="0">
                <a:latin typeface="Tahoma"/>
                <a:cs typeface="Tahoma"/>
              </a:defRPr>
            </a:lvl5pPr>
            <a:lvl6pPr>
              <a:defRPr sz="1500" lang="fa-IR" dirty="0">
                <a:latin typeface="Tahoma"/>
                <a:cs typeface="Tahoma"/>
              </a:defRPr>
            </a:lvl6pPr>
            <a:lvl7pPr>
              <a:defRPr sz="1500" lang="fa-IR" dirty="0">
                <a:latin typeface="Tahoma"/>
                <a:cs typeface="Tahoma"/>
              </a:defRPr>
            </a:lvl7pPr>
            <a:lvl8pPr>
              <a:defRPr sz="1500" lang="fa-IR" dirty="0">
                <a:latin typeface="Tahoma"/>
                <a:cs typeface="Tahoma"/>
              </a:defRPr>
            </a:lvl8pPr>
            <a:lvl9pPr>
              <a:defRPr sz="1500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830000"/>
            <a:ext cx="8229600" cy="980000"/>
          </a:xfrm>
        </p:spPr>
        <p:txBody>
          <a:bodyPr/>
          <a:lstStyle>
            <a:lvl1pPr marL="285750" indent="-285750" algn="r">
              <a:buChar char="•"/>
              <a:defRPr sz="1500" lang="fa-IR" dirty="0">
                <a:latin typeface="Tahoma"/>
                <a:cs typeface="Tahoma"/>
              </a:defRPr>
            </a:lvl1pPr>
            <a:lvl2pPr marL="342900" indent="0">
              <a:buNone/>
              <a:defRPr sz="900" lang="fa-IR" dirty="0">
                <a:latin typeface="Tahoma"/>
                <a:cs typeface="Tahoma"/>
              </a:defRPr>
            </a:lvl2pPr>
            <a:lvl3pPr marL="685800" indent="0">
              <a:buNone/>
              <a:defRPr sz="750" lang="fa-IR" dirty="0">
                <a:latin typeface="Tahoma"/>
                <a:cs typeface="Tahoma"/>
              </a:defRPr>
            </a:lvl3pPr>
            <a:lvl4pPr marL="1028700" indent="0">
              <a:buNone/>
              <a:defRPr sz="675" lang="fa-IR" dirty="0">
                <a:latin typeface="Tahoma"/>
                <a:cs typeface="Tahoma"/>
              </a:defRPr>
            </a:lvl4pPr>
            <a:lvl5pPr marL="1371600" indent="0">
              <a:buNone/>
              <a:defRPr sz="675" lang="fa-IR" dirty="0">
                <a:latin typeface="Tahoma"/>
                <a:cs typeface="Tahoma"/>
              </a:defRPr>
            </a:lvl5pPr>
            <a:lvl6pPr marL="1714500" indent="0">
              <a:buNone/>
              <a:defRPr sz="675" lang="fa-IR" dirty="0">
                <a:latin typeface="Tahoma"/>
                <a:cs typeface="Tahoma"/>
              </a:defRPr>
            </a:lvl6pPr>
            <a:lvl7pPr marL="2057400" indent="0">
              <a:buNone/>
              <a:defRPr sz="675" lang="fa-IR" dirty="0">
                <a:latin typeface="Tahoma"/>
                <a:cs typeface="Tahoma"/>
              </a:defRPr>
            </a:lvl7pPr>
            <a:lvl8pPr marL="2400300" indent="0">
              <a:buNone/>
              <a:defRPr sz="675" lang="fa-IR" dirty="0">
                <a:latin typeface="Tahoma"/>
                <a:cs typeface="Tahoma"/>
              </a:defRPr>
            </a:lvl8pPr>
            <a:lvl9pPr marL="2743200" indent="0">
              <a:buNone/>
              <a:defRPr sz="675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 lang="fa-IR" dirty="0">
                <a:latin typeface="Tahoma"/>
                <a:cs typeface="Tahoma"/>
              </a:defRPr>
            </a:lvl1pPr>
          </a:lstStyle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 lang="fa-IR" dirty="0">
                <a:latin typeface="Tahoma"/>
                <a:cs typeface="Tahoma"/>
              </a:defRPr>
            </a:lvl1pPr>
            <a:lvl2pPr marL="342900" indent="0">
              <a:buNone/>
              <a:defRPr sz="2100" lang="fa-IR" dirty="0">
                <a:latin typeface="Tahoma"/>
                <a:cs typeface="Tahoma"/>
              </a:defRPr>
            </a:lvl2pPr>
            <a:lvl3pPr marL="685800" indent="0">
              <a:buNone/>
              <a:defRPr sz="1800" lang="fa-IR" dirty="0">
                <a:latin typeface="Tahoma"/>
                <a:cs typeface="Tahoma"/>
              </a:defRPr>
            </a:lvl3pPr>
            <a:lvl4pPr marL="1028700" indent="0">
              <a:buNone/>
              <a:defRPr sz="1500" lang="fa-IR" dirty="0">
                <a:latin typeface="Tahoma"/>
                <a:cs typeface="Tahoma"/>
              </a:defRPr>
            </a:lvl4pPr>
            <a:lvl5pPr marL="1371600" indent="0">
              <a:buNone/>
              <a:defRPr sz="1500" lang="fa-IR" dirty="0">
                <a:latin typeface="Tahoma"/>
                <a:cs typeface="Tahoma"/>
              </a:defRPr>
            </a:lvl5pPr>
            <a:lvl6pPr marL="1714500" indent="0">
              <a:buNone/>
              <a:defRPr sz="1500" lang="fa-IR" dirty="0">
                <a:latin typeface="Tahoma"/>
                <a:cs typeface="Tahoma"/>
              </a:defRPr>
            </a:lvl6pPr>
            <a:lvl7pPr marL="2057400" indent="0">
              <a:buNone/>
              <a:defRPr sz="1500" lang="fa-IR" dirty="0">
                <a:latin typeface="Tahoma"/>
                <a:cs typeface="Tahoma"/>
              </a:defRPr>
            </a:lvl7pPr>
            <a:lvl8pPr marL="2400300" indent="0">
              <a:buNone/>
              <a:defRPr sz="1500" lang="fa-IR" dirty="0">
                <a:latin typeface="Tahoma"/>
                <a:cs typeface="Tahoma"/>
              </a:defRPr>
            </a:lvl8pPr>
            <a:lvl9pPr marL="2743200" indent="0">
              <a:buNone/>
              <a:defRPr sz="1500" lang="fa-IR" dirty="0">
                <a:latin typeface="Tahoma"/>
                <a:cs typeface="Tahoma"/>
              </a:defRPr>
            </a:lvl9pPr>
          </a:lstStyle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 lang="fa-IR" dirty="0">
                <a:latin typeface="Tahoma"/>
                <a:cs typeface="Tahoma"/>
              </a:defRPr>
            </a:lvl1pPr>
            <a:lvl2pPr marL="342900" indent="0">
              <a:buNone/>
              <a:defRPr sz="900" lang="fa-IR" dirty="0">
                <a:latin typeface="Tahoma"/>
                <a:cs typeface="Tahoma"/>
              </a:defRPr>
            </a:lvl2pPr>
            <a:lvl3pPr marL="685800" indent="0">
              <a:buNone/>
              <a:defRPr sz="750" lang="fa-IR" dirty="0">
                <a:latin typeface="Tahoma"/>
                <a:cs typeface="Tahoma"/>
              </a:defRPr>
            </a:lvl3pPr>
            <a:lvl4pPr marL="1028700" indent="0">
              <a:buNone/>
              <a:defRPr sz="675" lang="fa-IR" dirty="0">
                <a:latin typeface="Tahoma"/>
                <a:cs typeface="Tahoma"/>
              </a:defRPr>
            </a:lvl4pPr>
            <a:lvl5pPr marL="1371600" indent="0">
              <a:buNone/>
              <a:defRPr sz="675" lang="fa-IR" dirty="0">
                <a:latin typeface="Tahoma"/>
                <a:cs typeface="Tahoma"/>
              </a:defRPr>
            </a:lvl5pPr>
            <a:lvl6pPr marL="1714500" indent="0">
              <a:buNone/>
              <a:defRPr sz="675" lang="fa-IR" dirty="0">
                <a:latin typeface="Tahoma"/>
                <a:cs typeface="Tahoma"/>
              </a:defRPr>
            </a:lvl6pPr>
            <a:lvl7pPr marL="2057400" indent="0">
              <a:buNone/>
              <a:defRPr sz="675" lang="fa-IR" dirty="0">
                <a:latin typeface="Tahoma"/>
                <a:cs typeface="Tahoma"/>
              </a:defRPr>
            </a:lvl7pPr>
            <a:lvl8pPr marL="2400300" indent="0">
              <a:buNone/>
              <a:defRPr sz="675" lang="fa-IR" dirty="0">
                <a:latin typeface="Tahoma"/>
                <a:cs typeface="Tahoma"/>
              </a:defRPr>
            </a:lvl8pPr>
            <a:lvl9pPr marL="2743200" indent="0">
              <a:buNone/>
              <a:defRPr sz="675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1pPr>
          </a:lstStyle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1pPr>
          </a:lstStyle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1pPr>
          </a:lstStyle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90" name="Slide number text"/>
          <p:cNvSpPr txBox="1"/>
          <p:nvPr userDrawn="1"/>
        </p:nvSpPr>
        <p:spPr>
          <a:xfrm>
            <a:off x="457200" y="4850000"/>
            <a:ext cx="400000" cy="25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r" rtl="1"/>
            <a:fld id="{B6F15528-21DE-4FAA-801E-634DDDAF4B2B}" type="slidenum">
              <a:rPr lang="fa-IR" sz="1100" dirty="0">
                <a:solidFill>
                  <a:srgbClr val="7A8594"/>
                </a:solidFill>
                <a:latin typeface="Tahoma"/>
                <a:cs typeface="Tahoma"/>
              </a:rPr>
              <a:t>‹#›</a:t>
            </a:fld>
            <a:endParaRPr lang="fa-IR" sz="11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342900" eaLnBrk="1" hangingPunct="1" latinLnBrk="0" rtl="0">
        <a:spcBef>
          <a:spcPct val="0"/>
        </a:spcBef>
        <a:buNone/>
        <a:defRPr b="1" kern="1200" sz="2400" lang="fa-IR" dirty="0">
          <a:solidFill>
            <a:schemeClr val="tx1"/>
          </a:solidFill>
          <a:latin typeface="Tahoma"/>
          <a:ea typeface="+mj-ea"/>
          <a:cs typeface="Tahoma"/>
        </a:defRPr>
      </a:lvl1pPr>
    </p:titleStyle>
    <p:bodyStyle>
      <a:lvl1pPr algn="r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800" lang="fa-IR" dirty="0">
          <a:solidFill>
            <a:schemeClr val="tx1"/>
          </a:solidFill>
          <a:latin typeface="Tahoma"/>
          <a:ea typeface="+mn-ea"/>
          <a:cs typeface="Tahoma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00" lang="fa-IR" dirty="0">
          <a:solidFill>
            <a:schemeClr val="tx1"/>
          </a:solidFill>
          <a:latin typeface="Tahoma"/>
          <a:ea typeface="+mn-ea"/>
          <a:cs typeface="Tahoma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 lang="fa-IR" dirty="0">
          <a:solidFill>
            <a:schemeClr val="tx1"/>
          </a:solidFill>
          <a:latin typeface="Tahoma"/>
          <a:ea typeface="+mn-ea"/>
          <a:cs typeface="Tahoma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 lang="fa-IR" dirty="0">
          <a:solidFill>
            <a:schemeClr val="tx1"/>
          </a:solidFill>
          <a:latin typeface="Tahoma"/>
          <a:ea typeface="+mn-ea"/>
          <a:cs typeface="Tahoma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 lang="fa-IR" dirty="0">
          <a:solidFill>
            <a:schemeClr val="tx1"/>
          </a:solidFill>
          <a:latin typeface="Tahoma"/>
          <a:ea typeface="+mn-ea"/>
          <a:cs typeface="Tahoma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 lang="fa-IR" dirty="0">
          <a:solidFill>
            <a:schemeClr val="tx1"/>
          </a:solidFill>
          <a:latin typeface="Tahoma"/>
          <a:ea typeface="+mn-ea"/>
          <a:cs typeface="Tahoma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 lang="fa-IR" dirty="0">
          <a:solidFill>
            <a:schemeClr val="tx1"/>
          </a:solidFill>
          <a:latin typeface="Tahoma"/>
          <a:ea typeface="+mn-ea"/>
          <a:cs typeface="Tahoma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 lang="fa-IR" dirty="0">
          <a:solidFill>
            <a:schemeClr val="tx1"/>
          </a:solidFill>
          <a:latin typeface="Tahoma"/>
          <a:ea typeface="+mn-ea"/>
          <a:cs typeface="Tahoma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 lang="fa-IR" dirty="0">
          <a:solidFill>
            <a:schemeClr val="tx1"/>
          </a:solidFill>
          <a:latin typeface="Tahoma"/>
          <a:ea typeface="+mn-ea"/>
          <a:cs typeface="Tahoma"/>
        </a:defRPr>
      </a:lvl9pPr>
    </p:bodyStyle>
    <p:otherStyle>
      <a:defPPr>
        <a:defRPr lang="fa-IR" dirty="0">
          <a:latin typeface="Tahoma"/>
          <a:cs typeface="Tahoma"/>
        </a:defRPr>
      </a:defPPr>
      <a:lvl1pPr algn="l" defTabSz="342900" eaLnBrk="1" hangingPunct="1" latinLnBrk="0" marL="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1pPr>
      <a:lvl2pPr algn="l" defTabSz="342900" eaLnBrk="1" hangingPunct="1" latinLnBrk="0" marL="34290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2pPr>
      <a:lvl3pPr algn="l" defTabSz="342900" eaLnBrk="1" hangingPunct="1" latinLnBrk="0" marL="68580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3pPr>
      <a:lvl4pPr algn="l" defTabSz="342900" eaLnBrk="1" hangingPunct="1" latinLnBrk="0" marL="102870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4pPr>
      <a:lvl5pPr algn="l" defTabSz="342900" eaLnBrk="1" hangingPunct="1" latinLnBrk="0" marL="137160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5pPr>
      <a:lvl6pPr algn="l" defTabSz="342900" eaLnBrk="1" hangingPunct="1" latinLnBrk="0" marL="171450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6pPr>
      <a:lvl7pPr algn="l" defTabSz="342900" eaLnBrk="1" hangingPunct="1" latinLnBrk="0" marL="205740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7pPr>
      <a:lvl8pPr algn="l" defTabSz="342900" eaLnBrk="1" hangingPunct="1" latinLnBrk="0" marL="240030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8pPr>
      <a:lvl9pPr algn="l" defTabSz="342900" eaLnBrk="1" hangingPunct="1" latinLnBrk="0" marL="274320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5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6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7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8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9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13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15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تحلیل ترموالاستیک استوانه‌های متخلخلِ تقویت‌شده با پلاکت‌های گرافنی تحت بارِ ترمو-مکانیکی با استفاده از تئوری لرد-شولمن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نگارنده: ‹نام دانشجو› | استاد راهنما: ‹نام استاد راهنما›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‹نام دانشگاه و دانشکده› — ‹تاریخ دفاع›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فهرست مطالب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بیان مسئله و هدف پژوهش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پیشینه و شکاف تحقیقاتی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مدل‌سازی: هندسه، مواد و الگوها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معادلات حاکم و روش حل عددی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صحت‌سنجی و همگرایی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نتایج و بحث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نوآوری‌ها، نتیجه‌گیری و پیشنهادها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چرا تئوری کلاسیک فوریه کافی نیست؟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تئوری فوریه سرعت انتشار حرارت را </a:t>
                </a:r>
                <a:r>
                  <a:rPr b="1" lang="fa-IR" dirty="0">
                    <a:latin typeface="Tahoma"/>
                    <a:cs typeface="Tahoma"/>
                  </a:rPr>
                  <a:t>بی‌نهایت</a:t>
                </a:r>
                <a:r>
                  <a:rPr lang="fa-IR" dirty="0">
                    <a:latin typeface="Tahoma"/>
                    <a:cs typeface="Tahoma"/>
                  </a:rPr>
                  <a:t> فرض می‌کند.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این فرض در </a:t>
                </a:r>
                <a:r>
                  <a:rPr b="1" lang="fa-IR" dirty="0">
                    <a:latin typeface="Tahoma"/>
                    <a:cs typeface="Tahoma"/>
                  </a:rPr>
                  <a:t>شوک حرارتی و زمان‌های کوتاه</a:t>
                </a:r>
                <a:r>
                  <a:rPr lang="fa-IR" dirty="0">
                    <a:latin typeface="Tahoma"/>
                    <a:cs typeface="Tahoma"/>
                  </a:rPr>
                  <a:t> غیرفیزیکی است.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تئوری لرد-شولمن با زمان تخفیف </a:t>
                </a:r>
                <a14:m>
                  <m:oMath xmlns:m="http://schemas.openxmlformats.org/officeDocument/2006/math">
                    <m:sSub>
                      <m:e>
                        <m:r>
                          <m:t>τ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 lang="fa-IR" dirty="0">
                    <a:latin typeface="Tahoma"/>
                    <a:cs typeface="Tahoma"/>
                  </a:rPr>
                  <a:t> معادلهٔ انرژی را </a:t>
                </a:r>
                <a:r>
                  <a:rPr b="1" lang="fa-IR" dirty="0">
                    <a:latin typeface="Tahoma"/>
                    <a:cs typeface="Tahoma"/>
                  </a:rPr>
                  <a:t>هذلولوی</a:t>
                </a:r>
                <a:r>
                  <a:rPr lang="fa-IR" dirty="0">
                    <a:latin typeface="Tahoma"/>
                    <a:cs typeface="Tahoma"/>
                  </a:rPr>
                  <a:t> می‌کند: حرارت به‌صورت </a:t>
                </a:r>
                <a:r>
                  <a:rPr b="1" lang="fa-IR" dirty="0">
                    <a:latin typeface="Tahoma"/>
                    <a:cs typeface="Tahoma"/>
                  </a:rPr>
                  <a:t>موج با سرعت محدود</a:t>
                </a:r>
                <a:r>
                  <a:rPr lang="fa-IR" dirty="0">
                    <a:latin typeface="Tahoma"/>
                    <a:cs typeface="Tahoma"/>
                  </a:rPr>
                  <a:t> منتشر می‌شود.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کاربرد: مخازن تحت فشار، محفظه‌های احتراق و سامانه‌های حفاظت حرارتی.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هدف پژوهش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حلِ </a:t>
                </a:r>
                <a:r>
                  <a:rPr b="1" lang="fa-IR" dirty="0">
                    <a:latin typeface="Tahoma"/>
                    <a:cs typeface="Tahoma"/>
                  </a:rPr>
                  <a:t>کاملاً ممزوجِ</a:t>
                </a:r>
                <a:r>
                  <a:rPr lang="fa-IR" dirty="0">
                    <a:latin typeface="Tahoma"/>
                    <a:cs typeface="Tahoma"/>
                  </a:rPr>
                  <a:t> معادلات لرد-شولمن برای استوانهٔ </a:t>
                </a:r>
                <a:r>
                  <a:rPr b="1" lang="fa-IR" dirty="0">
                    <a:latin typeface="Tahoma"/>
                    <a:cs typeface="Tahoma"/>
                  </a:rPr>
                  <a:t>چندلایهٔ متخلخلِ تقویت‌شده با گرافن</a:t>
                </a:r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بررسی </a:t>
                </a:r>
                <a:r>
                  <a:rPr b="1" lang="fa-IR" dirty="0">
                    <a:latin typeface="Tahoma"/>
                    <a:cs typeface="Tahoma"/>
                  </a:rPr>
                  <a:t>دما، تنش، کرنش و جابجایی</a:t>
                </a:r>
                <a:r>
                  <a:rPr lang="fa-IR" dirty="0">
                    <a:latin typeface="Tahoma"/>
                    <a:cs typeface="Tahoma"/>
                  </a:rPr>
                  <a:t> در فضای دوبعدی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r</m:t>
                    </m:r>
                    <m:r>
                      <m:rPr>
                        <m:sty m:val="p"/>
                      </m:rPr>
                      <m:t>,</m:t>
                    </m:r>
                    <m:r>
                      <m:t>z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کمّی‌سازی اثر </a:t>
                </a:r>
                <a:r>
                  <a:rPr b="1" lang="fa-IR" dirty="0">
                    <a:latin typeface="Tahoma"/>
                    <a:cs typeface="Tahoma"/>
                  </a:rPr>
                  <a:t>الگوهای پنج‌گانهٔ</a:t>
                </a:r>
                <a:r>
                  <a:rPr lang="fa-IR" dirty="0">
                    <a:latin typeface="Tahoma"/>
                    <a:cs typeface="Tahoma"/>
                  </a:rPr>
                  <a:t> گرافن و تخلخل (UD, O, X, V, A).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مقایسهٔ </a:t>
                </a:r>
                <a:r>
                  <a:rPr b="1" lang="fa-IR" dirty="0">
                    <a:latin typeface="Tahoma"/>
                    <a:cs typeface="Tahoma"/>
                  </a:rPr>
                  <a:t>چهار تئوری</a:t>
                </a:r>
                <a:r>
                  <a:rPr lang="fa-IR" dirty="0">
                    <a:latin typeface="Tahoma"/>
                    <a:cs typeface="Tahoma"/>
                  </a:rPr>
                  <a:t> ترموالاستیسیته.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ارائهٔ یک </a:t>
                </a:r>
                <a:r>
                  <a:rPr b="1" lang="fa-IR" dirty="0">
                    <a:latin typeface="Tahoma"/>
                    <a:cs typeface="Tahoma"/>
                  </a:rPr>
                  <a:t>توصیهٔ طراحی</a:t>
                </a:r>
                <a:r>
                  <a:rPr lang="fa-IR" dirty="0">
                    <a:latin typeface="Tahoma"/>
                    <a:cs typeface="Tahoma"/>
                  </a:rPr>
                  <a:t> برای حفاظت حرارتی.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شکاف تحقیقاتی: حل ممزوج دوبعدی با ماتریس کامل الگوها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مطالعات پیشین: هدایت </a:t>
            </a:r>
            <a:r>
              <a:rPr b="1" lang="fa-IR" dirty="0">
                <a:latin typeface="Tahoma"/>
                <a:cs typeface="Tahoma"/>
              </a:rPr>
              <a:t>کلاسیک فوریه</a:t>
            </a:r>
            <a:r>
              <a:rPr lang="fa-IR" dirty="0">
                <a:latin typeface="Tahoma"/>
                <a:cs typeface="Tahoma"/>
              </a:rPr>
              <a:t>، یا حل </a:t>
            </a:r>
            <a:r>
              <a:rPr b="1" lang="fa-IR" dirty="0">
                <a:latin typeface="Tahoma"/>
                <a:cs typeface="Tahoma"/>
              </a:rPr>
              <a:t>غیرممزوج</a:t>
            </a:r>
            <a:r>
              <a:rPr lang="fa-IR" dirty="0">
                <a:latin typeface="Tahoma"/>
                <a:cs typeface="Tahoma"/>
              </a:rPr>
              <a:t>، یا هندسهٔ </a:t>
            </a:r>
            <a:r>
              <a:rPr b="1" lang="fa-IR" dirty="0">
                <a:latin typeface="Tahoma"/>
                <a:cs typeface="Tahoma"/>
              </a:rPr>
              <a:t>یک‌بعدی</a:t>
            </a:r>
            <a:r>
              <a:rPr lang="fa-IR" dirty="0">
                <a:latin typeface="Tahoma"/>
                <a:cs typeface="Tahoma"/>
              </a:rPr>
              <a:t>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اثر گرافن و تخلخل غالباً </a:t>
            </a:r>
            <a:r>
              <a:rPr b="1" lang="fa-IR" dirty="0">
                <a:latin typeface="Tahoma"/>
                <a:cs typeface="Tahoma"/>
              </a:rPr>
              <a:t>جداگانه</a:t>
            </a:r>
            <a:r>
              <a:rPr lang="fa-IR" dirty="0">
                <a:latin typeface="Tahoma"/>
                <a:cs typeface="Tahoma"/>
              </a:rPr>
              <a:t> بررسی شده است.</a:t>
            </a:r>
          </a:p>
          <a:p>
            <a:pPr lvl="0" rtl="1" algn="r"/>
            <a:r>
              <a:rPr b="1" lang="fa-IR" dirty="0">
                <a:latin typeface="Tahoma"/>
                <a:cs typeface="Tahoma"/>
              </a:rPr>
              <a:t>شکاف:</a:t>
            </a:r>
            <a:r>
              <a:rPr lang="fa-IR" dirty="0">
                <a:latin typeface="Tahoma"/>
                <a:cs typeface="Tahoma"/>
              </a:rPr>
              <a:t> حل ممزوج لرد-شولمن برای استوانهٔ چندلایهٔ متخلخلِ گرافنی در دو بُعد، با </a:t>
            </a:r>
            <a:r>
              <a:rPr b="1" lang="fa-IR" dirty="0">
                <a:latin typeface="Tahoma"/>
                <a:cs typeface="Tahoma"/>
              </a:rPr>
              <a:t>ماتریس کاملِ برهم‌کنش الگوها</a:t>
            </a:r>
            <a:r>
              <a:rPr lang="fa-IR" dirty="0">
                <a:latin typeface="Tahoma"/>
                <a:cs typeface="Tahoma"/>
              </a:rPr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استوانهٔ توخالیِ هفت‌لایه با خواص متغیر در ضخامت</a:t>
            </a:r>
          </a:p>
        </p:txBody>
      </p:sp>
      <p:pic>
        <p:nvPicPr>
          <p:cNvPr descr="../figures_ch123/geometry_schemati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38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حالت مرجع و شرایط مرزی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ابعاد: 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m، 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o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1.5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m، طول </a:t>
                </a:r>
                <a14:m>
                  <m:oMath xmlns:m="http://schemas.openxmlformats.org/officeDocument/2006/math"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2.1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m.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حرارت: سطح داخلی </a:t>
                </a:r>
                <a14:m>
                  <m:oMath xmlns:m="http://schemas.openxmlformats.org/officeDocument/2006/math">
                    <m:r>
                      <m:t>300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600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K؛ سطح خارجی همرفت با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10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W/m²K.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مکانیک: فشار داخلی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50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MPa؛ انتهاها تکیه‌گاه ساده و عایق.</a:t>
                </a:r>
              </a:p>
              <a:p>
                <a:pPr lvl="0" rtl="1" algn="r"/>
                <a14:m>
                  <m:oMath xmlns:m="http://schemas.openxmlformats.org/officeDocument/2006/math">
                    <m:sSup>
                      <m:e>
                        <m:r>
                          <m:t>τ</m:t>
                        </m:r>
                      </m:e>
                      <m:sup>
                        <m:r>
                          <m:rPr>
                            <m:sty m:val="p"/>
                          </m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m:t>≈</m:t>
                    </m:r>
                    <m:r>
                      <m:t>0.15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(معادل </a:t>
                </a:r>
                <a14:m>
                  <m:oMath xmlns:m="http://schemas.openxmlformats.org/officeDocument/2006/math">
                    <m:sSub>
                      <m:e>
                        <m:r>
                          <m:t>τ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418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s)؛ زمان کل ۳۰۰۰ ثانیه.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خواص: </a:t>
                </a:r>
                <a:r>
                  <a:rPr b="1" lang="fa-IR" dirty="0">
                    <a:latin typeface="Tahoma"/>
                    <a:cs typeface="Tahoma"/>
                  </a:rPr>
                  <a:t>هالپین-تسای</a:t>
                </a:r>
                <a:r>
                  <a:rPr lang="fa-IR" dirty="0">
                    <a:latin typeface="Tahoma"/>
                    <a:cs typeface="Tahoma"/>
                  </a:rPr>
                  <a:t> + قانون مخلوط‌ها؛ تخلخل: </a:t>
                </a:r>
                <a:r>
                  <a:rPr b="1" lang="fa-IR" dirty="0">
                    <a:latin typeface="Tahoma"/>
                    <a:cs typeface="Tahoma"/>
                  </a:rPr>
                  <a:t>سلول باز</a:t>
                </a:r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پنج الگوی توزیع گرافن در ضخامت</a:t>
            </a:r>
          </a:p>
        </p:txBody>
      </p:sp>
      <p:pic>
        <p:nvPicPr>
          <p:cNvPr descr="../figures_ch123/GPL_patterns_schemati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74900" y="1193800"/>
            <a:ext cx="4381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پنج الگوی توزیع تخلخل در ضخامت</a:t>
            </a:r>
          </a:p>
        </p:txBody>
      </p:sp>
      <p:pic>
        <p:nvPicPr>
          <p:cNvPr descr="../figures_ch123/porosity_patterns_schematic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70100" y="1193800"/>
            <a:ext cx="5016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معادلهٔ انرژی لرد-شولمن: گرما به‌صورت موج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 rtl="1" algn="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ρ</m:t>
                      </m:r>
                      <m:r>
                        <m:t>c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̇"/>
                            </m:accPr>
                            <m:e>
                              <m:r>
                                <m:t>θ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τ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  <m:acc>
                            <m:accPr>
                              <m:chr m:val="̈"/>
                            </m:accPr>
                            <m:e>
                              <m:r>
                                <m:t>θ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β</m:t>
                      </m:r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̇"/>
                            </m:accPr>
                            <m:e>
                              <m:r>
                                <m:t>e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τ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  <m:acc>
                            <m:accPr>
                              <m:chr m:val="̈"/>
                            </m:accPr>
                            <m:e>
                              <m:r>
                                <m:t>e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∇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∇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جملهٔ </a:t>
                </a:r>
                <a14:m>
                  <m:oMath xmlns:m="http://schemas.openxmlformats.org/officeDocument/2006/math">
                    <m:sSub>
                      <m:e>
                        <m:r>
                          <m:t>τ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acc>
                      <m:accPr>
                        <m:chr m:val="̈"/>
                      </m:accPr>
                      <m:e>
                        <m:r>
                          <m:t>θ</m:t>
                        </m:r>
                      </m:e>
                    </m:acc>
                  </m:oMath>
                </a14:m>
                <a:r>
                  <a:rPr lang="fa-IR" dirty="0">
                    <a:latin typeface="Tahoma"/>
                    <a:cs typeface="Tahoma"/>
                  </a:rPr>
                  <a:t> معادله را </a:t>
                </a:r>
                <a:r>
                  <a:rPr b="1" lang="fa-IR" dirty="0">
                    <a:latin typeface="Tahoma"/>
                    <a:cs typeface="Tahoma"/>
                  </a:rPr>
                  <a:t>هذلولوی</a:t>
                </a:r>
                <a:r>
                  <a:rPr lang="fa-IR" dirty="0">
                    <a:latin typeface="Tahoma"/>
                    <a:cs typeface="Tahoma"/>
                  </a:rPr>
                  <a:t> می‌کند؛ سرعت موج </a:t>
                </a:r>
                <a14:m>
                  <m:oMath xmlns:m="http://schemas.openxmlformats.org/officeDocument/2006/math">
                    <m: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α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sSub>
                          <m:e>
                            <m:r>
                              <m:t>τ</m:t>
                            </m:r>
                          </m:e>
                          <m:sub>
                            <m:r>
                              <m:t>0</m:t>
                            </m:r>
                          </m:sub>
                        </m:sSub>
                      </m:e>
                    </m:rad>
                  </m:oMath>
                </a14:m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جملهٔ </a:t>
                </a:r>
                <a14:m>
                  <m:oMath xmlns:m="http://schemas.openxmlformats.org/officeDocument/2006/math">
                    <m:r>
                      <m:t>β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acc>
                      <m:accPr>
                        <m:chr m:val="̇"/>
                      </m:accPr>
                      <m:e>
                        <m:r>
                          <m:t>e</m:t>
                        </m:r>
                      </m:e>
                    </m:acc>
                  </m:oMath>
                </a14:m>
                <a:r>
                  <a:rPr lang="fa-IR" dirty="0">
                    <a:latin typeface="Tahoma"/>
                    <a:cs typeface="Tahoma"/>
                  </a:rPr>
                  <a:t/>
                </a:r>
                <a:r>
                  <a:rPr b="1" lang="fa-IR" dirty="0">
                    <a:latin typeface="Tahoma"/>
                    <a:cs typeface="Tahoma"/>
                  </a:rPr>
                  <a:t>پیوند ممزوج</a:t>
                </a:r>
                <a:r>
                  <a:rPr lang="fa-IR" dirty="0">
                    <a:latin typeface="Tahoma"/>
                    <a:cs typeface="Tahoma"/>
                  </a:rPr>
                  <a:t> دما و تغییرشکل است.</a:t>
                </a:r>
              </a:p>
              <a:p>
                <a:pPr lvl="0" rtl="1" algn="r"/>
                <a14:m>
                  <m:oMath xmlns:m="http://schemas.openxmlformats.org/officeDocument/2006/math">
                    <m:sSub>
                      <m:e>
                        <m:r>
                          <m:t>τ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→</m:t>
                    </m:r>
                    <m:r>
                      <m:t>0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: </a:t>
                </a:r>
                <a:r>
                  <a:rPr b="1" lang="fa-IR" dirty="0">
                    <a:latin typeface="Tahoma"/>
                    <a:cs typeface="Tahoma"/>
                  </a:rPr>
                  <a:t>فوریهٔ کلاسیک</a:t>
                </a:r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DQM لایه‌ای + نیومارک: ۱۵ برابر نقطهٔ کمتر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rtl="1" algn="r"/>
                <a:r>
                  <a:rPr b="1" lang="fa-IR" dirty="0">
                    <a:latin typeface="Tahoma"/>
                    <a:cs typeface="Tahoma"/>
                  </a:rPr>
                  <a:t>مکان:</a:t>
                </a:r>
                <a:r>
                  <a:rPr lang="fa-IR" dirty="0">
                    <a:latin typeface="Tahoma"/>
                    <a:cs typeface="Tahoma"/>
                  </a:rPr>
                  <a:t> مربعات تفاضلی (DQM) لایه‌ای در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r</m:t>
                    </m:r>
                    <m:r>
                      <m:rPr>
                        <m:sty m:val="p"/>
                      </m:rPr>
                      <m:t>,</m:t>
                    </m:r>
                    <m:r>
                      <m:t>z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با نقاط چبیشف-گاوس-لوباتو.</a:t>
                </a:r>
              </a:p>
              <a:p>
                <a:pPr lvl="0" rtl="1" algn="r"/>
                <a:r>
                  <a:rPr b="1" lang="fa-IR" dirty="0">
                    <a:latin typeface="Tahoma"/>
                    <a:cs typeface="Tahoma"/>
                  </a:rPr>
                  <a:t>زمان:</a:t>
                </a:r>
                <a:r>
                  <a:rPr lang="fa-IR" dirty="0">
                    <a:latin typeface="Tahoma"/>
                    <a:cs typeface="Tahoma"/>
                  </a:rPr>
                  <a:t> نیومارک (</a:t>
                </a:r>
                <a14:m>
                  <m:oMath xmlns:m="http://schemas.openxmlformats.org/officeDocument/2006/math">
                    <m:r>
                      <m:t>β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t>4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، </a:t>
                </a:r>
                <a14:m>
                  <m:oMath xmlns:m="http://schemas.openxmlformats.org/officeDocument/2006/math">
                    <m:r>
                      <m:t>γ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t>2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) — بدون قید پایداری.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شرایط مرزی و </a:t>
                </a:r>
                <a:r>
                  <a:rPr b="1" lang="fa-IR" dirty="0">
                    <a:latin typeface="Tahoma"/>
                    <a:cs typeface="Tahoma"/>
                  </a:rPr>
                  <a:t>سازگاری بین‌لایه‌ای</a:t>
                </a:r>
                <a:r>
                  <a:rPr lang="fa-IR" dirty="0">
                    <a:latin typeface="Tahoma"/>
                    <a:cs typeface="Tahoma"/>
                  </a:rPr>
                  <a:t> (دما، شار، جابجایی، تنش) به‌صورت سطرهای جبری.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DQM در هر راستا حدود </a:t>
                </a:r>
                <a:r>
                  <a:rPr b="1" lang="fa-IR" dirty="0">
                    <a:latin typeface="Tahoma"/>
                    <a:cs typeface="Tahoma"/>
                  </a:rPr>
                  <a:t>۱۵ برابر</a:t>
                </a:r>
                <a:r>
                  <a:rPr lang="fa-IR" dirty="0">
                    <a:latin typeface="Tahoma"/>
                    <a:cs typeface="Tahoma"/>
                  </a:rPr>
                  <a:t> نقطهٔ کمتر از تفاضل محدود و اجزای محدود خطی.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شبکهٔ DQM</a:t>
            </a:r>
          </a:p>
        </p:txBody>
      </p:sp>
      <p:pic>
        <p:nvPicPr>
          <p:cNvPr descr="../figures_ch123/DQM_nodes_schemati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193800"/>
            <a:ext cx="7581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فلوچارت حل</a:t>
            </a:r>
          </a:p>
        </p:txBody>
      </p:sp>
      <p:pic>
        <p:nvPicPr>
          <p:cNvPr descr="../figures_ch123/solution_flowchar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467100" y="1193800"/>
            <a:ext cx="2197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صحت‌سنجی: پنج آزمون مستقل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 rtl="1" algn="r">
                  <a:buAutoNum type="arabicPeriod"/>
                </a:pPr>
                <a:r>
                  <a:rPr b="1" lang="fa-IR" dirty="0">
                    <a:latin typeface="Tahoma"/>
                    <a:cs typeface="Tahoma"/>
                  </a:rPr>
                  <a:t>حد استاتیکی</a:t>
                </a:r>
                <a:r>
                  <a:rPr lang="fa-IR" dirty="0">
                    <a:latin typeface="Tahoma"/>
                    <a:cs typeface="Tahoma"/>
                  </a:rPr>
                  <a:t> — حل‌گر استاتیکی مستقل: اختلاف نسبی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∼</m:t>
                    </m:r>
                    <m:r>
                      <m:t>2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11</m:t>
                        </m:r>
                      </m:sup>
                    </m:sSup>
                  </m:oMath>
                </a14:m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  <a:p>
                <a:pPr lvl="0" indent="-342900" marL="342900" rtl="1" algn="r">
                  <a:buAutoNum type="arabicPeriod"/>
                </a:pPr>
                <a:r>
                  <a:rPr b="1" lang="fa-IR" dirty="0">
                    <a:latin typeface="Tahoma"/>
                    <a:cs typeface="Tahoma"/>
                  </a:rPr>
                  <a:t>پاسخ مکانیکی</a:t>
                </a:r>
                <a:r>
                  <a:rPr lang="fa-IR" dirty="0">
                    <a:latin typeface="Tahoma"/>
                    <a:cs typeface="Tahoma"/>
                  </a:rPr>
                  <a:t> — ملک‌زاده و ANSYS: اختلاف </a:t>
                </a:r>
                <a:r>
                  <a:rPr b="1" lang="fa-IR" dirty="0">
                    <a:latin typeface="Tahoma"/>
                    <a:cs typeface="Tahoma"/>
                  </a:rPr>
                  <a:t>۰٫۱ تا ۰٫۲٪</a:t>
                </a:r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  <a:p>
                <a:pPr lvl="0" indent="-342900" marL="342900" rtl="1" algn="r">
                  <a:buAutoNum type="arabicPeriod"/>
                </a:pPr>
                <a:r>
                  <a:rPr b="1" lang="fa-IR" dirty="0">
                    <a:latin typeface="Tahoma"/>
                    <a:cs typeface="Tahoma"/>
                  </a:rPr>
                  <a:t>هدایت گذرا</a:t>
                </a:r>
                <a:r>
                  <a:rPr lang="fa-IR" dirty="0">
                    <a:latin typeface="Tahoma"/>
                    <a:cs typeface="Tahoma"/>
                  </a:rPr>
                  <a:t> — حل دقیق سری بسل: خطای </a:t>
                </a:r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5</m:t>
                        </m:r>
                      </m:sup>
                    </m:sSup>
                  </m:oMath>
                </a14:m>
                <a:r>
                  <a:rPr lang="fa-IR" dirty="0">
                    <a:latin typeface="Tahoma"/>
                    <a:cs typeface="Tahoma"/>
                  </a:rPr>
                  <a:t> تا </a:t>
                </a:r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7</m:t>
                        </m:r>
                      </m:sup>
                    </m:sSup>
                  </m:oMath>
                </a14:m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  <a:p>
                <a:pPr lvl="0" indent="-342900" marL="342900" rtl="1" algn="r">
                  <a:buAutoNum type="arabicPeriod"/>
                </a:pPr>
                <a:r>
                  <a:rPr b="1" lang="fa-IR" dirty="0">
                    <a:latin typeface="Tahoma"/>
                    <a:cs typeface="Tahoma"/>
                  </a:rPr>
                  <a:t>انتگرال‌گیر زمانی</a:t>
                </a:r>
                <a:r>
                  <a:rPr lang="fa-IR" dirty="0">
                    <a:latin typeface="Tahoma"/>
                    <a:cs typeface="Tahoma"/>
                  </a:rPr>
                  <a:t> — </a:t>
                </a:r>
                <a:r>
                  <a:rPr lang="fa-IR" dirty="0">
                    <a:latin typeface="Tahoma"/>
                    <a:cs typeface="Tahoma"/>
                  </a:rPr>
                  <a:t>ode15s</a:t>
                </a:r>
                <a:r>
                  <a:rPr lang="fa-IR" dirty="0">
                    <a:latin typeface="Tahoma"/>
                    <a:cs typeface="Tahoma"/>
                  </a:rPr>
                  <a:t>: اختلاف </a:t>
                </a:r>
                <a:r>
                  <a:rPr b="1" lang="fa-IR" dirty="0">
                    <a:latin typeface="Tahoma"/>
                    <a:cs typeface="Tahoma"/>
                  </a:rPr>
                  <a:t>۰٫۰۰۳ K</a:t>
                </a:r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  <a:p>
                <a:pPr lvl="0" indent="-342900" marL="342900" rtl="1" algn="r">
                  <a:buAutoNum type="arabicPeriod"/>
                </a:pPr>
                <a:r>
                  <a:rPr b="1" lang="fa-IR" dirty="0">
                    <a:latin typeface="Tahoma"/>
                    <a:cs typeface="Tahoma"/>
                  </a:rPr>
                  <a:t>موج صوت دوم</a:t>
                </a:r>
                <a:r>
                  <a:rPr lang="fa-IR" dirty="0">
                    <a:latin typeface="Tahoma"/>
                    <a:cs typeface="Tahoma"/>
                  </a:rPr>
                  <a:t> — حل دقیق تحلیلی: صحت‌سنجی </a:t>
                </a:r>
                <a:r>
                  <a:rPr b="1" lang="fa-IR" dirty="0">
                    <a:latin typeface="Tahoma"/>
                    <a:cs typeface="Tahoma"/>
                  </a:rPr>
                  <a:t>کمّی</a:t>
                </a:r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آزمون ۲: جابجایی شعاعی با مرجع و ANSYS منطبق است</a:t>
            </a:r>
          </a:p>
        </p:txBody>
      </p:sp>
      <p:pic>
        <p:nvPicPr>
          <p:cNvPr descr="../Validation/bench1_U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197100" y="1193800"/>
            <a:ext cx="4749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آزمون ۳: پروفیل دما با حل دقیق بسل منطبق است</a:t>
            </a:r>
          </a:p>
        </p:txBody>
      </p:sp>
      <p:pic>
        <p:nvPicPr>
          <p:cNvPr descr="../Validation/bench2_T_profile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120900" y="1193800"/>
            <a:ext cx="488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000"/>
            <a:ext cx="8229600" cy="700000"/>
          </a:xfrm>
        </p:spPr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موج صوت دوم: خطای ۰٫۳۲٪ در برابر حل دقیق تحلیلی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مرجع: حل دقیق فوریه-بسل برای </a:t>
                </a:r>
                <a:r>
                  <a:rPr b="1" lang="fa-IR" dirty="0">
                    <a:latin typeface="Tahoma"/>
                    <a:cs typeface="Tahoma"/>
                  </a:rPr>
                  <a:t>همین هندسه</a:t>
                </a:r>
                <a:r>
                  <a:rPr lang="fa-IR" dirty="0">
                    <a:latin typeface="Tahoma"/>
                    <a:cs typeface="Tahoma"/>
                  </a:rPr>
                  <a:t>؛ خطا </a:t>
                </a:r>
                <a14:m>
                  <m:oMath xmlns:m="http://schemas.openxmlformats.org/officeDocument/2006/math">
                    <m:r>
                      <m:t>0.32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m:t>∞</m:t>
                        </m:r>
                      </m:sub>
                    </m:sSub>
                  </m:oMath>
                </a14:m>
                <a:r>
                  <a:rPr lang="fa-IR" dirty="0">
                    <a:latin typeface="Tahoma"/>
                    <a:cs typeface="Tahoma"/>
                  </a:rPr>
                  <a:t>) و </a:t>
                </a:r>
                <a14:m>
                  <m:oMath xmlns:m="http://schemas.openxmlformats.org/officeDocument/2006/math">
                    <m:r>
                      <m:t>0.065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 lang="fa-IR" dirty="0">
                    <a:latin typeface="Tahoma"/>
                    <a:cs typeface="Tahoma"/>
                  </a:rPr>
                  <a:t>).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خطا با ریزسازی شبکه </a:t>
                </a:r>
                <a:r>
                  <a:rPr b="1" lang="fa-IR" dirty="0">
                    <a:latin typeface="Tahoma"/>
                    <a:cs typeface="Tahoma"/>
                  </a:rPr>
                  <a:t>یکنواخت کاهش</a:t>
                </a:r>
                <a:r>
                  <a:rPr lang="fa-IR" dirty="0">
                    <a:latin typeface="Tahoma"/>
                    <a:cs typeface="Tahoma"/>
                  </a:rPr>
                  <a:t> می‌یابد ← نوسان‌های پشت پیشانی </a:t>
                </a:r>
                <a:r>
                  <a:rPr b="1" lang="fa-IR" dirty="0">
                    <a:latin typeface="Tahoma"/>
                    <a:cs typeface="Tahoma"/>
                  </a:rPr>
                  <a:t>اثر گیبس</a:t>
                </a:r>
                <a:r>
                  <a:rPr lang="fa-IR" dirty="0">
                    <a:latin typeface="Tahoma"/>
                    <a:cs typeface="Tahoma"/>
                  </a:rPr>
                  <a:t> است، نه ناپایداری.</a:t>
                </a:r>
              </a:p>
            </p:txBody>
          </p:sp>
        </mc:Choice>
      </mc:AlternateContent>
      <p:pic>
        <p:nvPicPr>
          <p:cNvPr descr="../figures_validation/ls_wave_validation_R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168400" y="876300"/>
            <a:ext cx="68199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 rtl="1" algn="r">
                  <a:buNone/>
                </a:pPr>
                <a:r>
                  <a:rPr lang="fa-IR" dirty="0">
                    <a:latin typeface="Tahoma"/>
                    <a:cs typeface="Tahoma"/>
                  </a:rPr>
                  <a:t>مش قفل‌شده: </a:t>
                </a:r>
                <a14:m>
                  <m:oMath xmlns:m="http://schemas.openxmlformats.org/officeDocument/2006/math">
                    <m:sSub>
                      <m:e>
                        <m:r>
                          <m:t>N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15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، </a:t>
                </a:r>
                <a14:m>
                  <m:oMath xmlns:m="http://schemas.openxmlformats.org/officeDocument/2006/math">
                    <m:sSub>
                      <m:e>
                        <m:r>
                          <m:t>N</m:t>
                        </m:r>
                      </m:e>
                      <m:sub>
                        <m:r>
                          <m:t>z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11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، </a:t>
                </a:r>
                <a14:m>
                  <m:oMath xmlns:m="http://schemas.openxmlformats.org/officeDocument/2006/math">
                    <m:sSub>
                      <m:e>
                        <m:r>
                          <m:t>N</m:t>
                        </m:r>
                      </m:e>
                      <m:sub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7</m:t>
                    </m:r>
                  </m:oMath>
                </a14:m>
              </a:p>
            </p:txBody>
          </p:sp>
        </mc:Choice>
      </mc:AlternateContent>
      <p:pic>
        <p:nvPicPr>
          <p:cNvPr descr="../figures_ch4_color/conv_master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336800" y="1193800"/>
            <a:ext cx="4483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000"/>
            <a:ext cx="8229600" cy="700000"/>
          </a:xfrm>
        </p:spPr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۱: دمای میان‌جداری از مقدار محرک فراتر می‌رود (۱٫۱۱۵)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تا </a:t>
            </a:r>
            <a:r>
              <a:rPr b="1" lang="fa-IR" dirty="0">
                <a:latin typeface="Tahoma"/>
                <a:cs typeface="Tahoma"/>
              </a:rPr>
              <a:t>۱٫۱۱۵</a:t>
            </a:r>
            <a:r>
              <a:rPr lang="fa-IR" dirty="0">
                <a:latin typeface="Tahoma"/>
                <a:cs typeface="Tahoma"/>
              </a:rPr>
              <a:t> در کسر وزنی بالای گرافن و </a:t>
            </a:r>
            <a:r>
              <a:rPr b="1" lang="fa-IR" dirty="0">
                <a:latin typeface="Tahoma"/>
                <a:cs typeface="Tahoma"/>
              </a:rPr>
              <a:t>۱٫۱۰۹</a:t>
            </a:r>
            <a:r>
              <a:rPr lang="fa-IR" dirty="0">
                <a:latin typeface="Tahoma"/>
                <a:cs typeface="Tahoma"/>
              </a:rPr>
              <a:t> در تخلخل V؛ الگوی «قله-قعر» از بازتاب موج.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در مدل کلاسیک </a:t>
            </a:r>
            <a:r>
              <a:rPr b="1" lang="fa-IR" dirty="0">
                <a:latin typeface="Tahoma"/>
                <a:cs typeface="Tahoma"/>
              </a:rPr>
              <a:t>قابل بازتولید نیست</a:t>
            </a:r>
            <a:r>
              <a:rPr lang="fa-IR" dirty="0">
                <a:latin typeface="Tahoma"/>
                <a:cs typeface="Tahoma"/>
              </a:rPr>
              <a:t>.</a:t>
            </a:r>
          </a:p>
        </p:txBody>
      </p:sp>
      <p:pic>
        <p:nvPicPr>
          <p:cNvPr descr="../figures_ch4_color/C_relax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09800" y="876300"/>
            <a:ext cx="47244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000"/>
            <a:ext cx="8229600" cy="700000"/>
          </a:xfrm>
        </p:spPr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۲: گرافن V دما را ۲۹٪ و تنش را تا ۳ برابر کم می‌کند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rtl="1" algn="r"/>
            <a:r>
              <a:rPr b="1" lang="fa-IR" dirty="0">
                <a:latin typeface="Tahoma"/>
                <a:cs typeface="Tahoma"/>
              </a:rPr>
              <a:t>V</a:t>
            </a:r>
            <a:r>
              <a:rPr lang="fa-IR" dirty="0">
                <a:latin typeface="Tahoma"/>
                <a:cs typeface="Tahoma"/>
              </a:rPr>
              <a:t> (رسانا در سطح داخلیِ گرم): دمای بیشینه </a:t>
            </a:r>
            <a:r>
              <a:rPr b="1" lang="fa-IR" dirty="0">
                <a:latin typeface="Tahoma"/>
                <a:cs typeface="Tahoma"/>
              </a:rPr>
              <a:t>۲۹٪</a:t>
            </a:r>
            <a:r>
              <a:rPr lang="fa-IR" dirty="0">
                <a:latin typeface="Tahoma"/>
                <a:cs typeface="Tahoma"/>
              </a:rPr>
              <a:t> کمتر؛ تنش محیطی داخلی تا </a:t>
            </a:r>
            <a:r>
              <a:rPr b="1" lang="fa-IR" dirty="0">
                <a:latin typeface="Tahoma"/>
                <a:cs typeface="Tahoma"/>
              </a:rPr>
              <a:t>۳ برابر</a:t>
            </a:r>
            <a:r>
              <a:rPr lang="fa-IR" dirty="0">
                <a:latin typeface="Tahoma"/>
                <a:cs typeface="Tahoma"/>
              </a:rPr>
              <a:t> کمتر.</a:t>
            </a:r>
          </a:p>
          <a:p>
            <a:pPr lvl="0" rtl="1" algn="r"/>
            <a:r>
              <a:rPr b="1" lang="fa-IR" dirty="0">
                <a:latin typeface="Tahoma"/>
                <a:cs typeface="Tahoma"/>
              </a:rPr>
              <a:t>A</a:t>
            </a:r>
            <a:r>
              <a:rPr lang="fa-IR" dirty="0">
                <a:latin typeface="Tahoma"/>
                <a:cs typeface="Tahoma"/>
              </a:rPr>
              <a:t> (آینهٔ V) </a:t>
            </a:r>
            <a:r>
              <a:rPr b="1" lang="fa-IR" dirty="0">
                <a:latin typeface="Tahoma"/>
                <a:cs typeface="Tahoma"/>
              </a:rPr>
              <a:t>بدترین</a:t>
            </a:r>
            <a:r>
              <a:rPr lang="fa-IR" dirty="0">
                <a:latin typeface="Tahoma"/>
                <a:cs typeface="Tahoma"/>
              </a:rPr>
              <a:t> حالت در هر سه کمیت است.</a:t>
            </a:r>
          </a:p>
        </p:txBody>
      </p:sp>
      <p:pic>
        <p:nvPicPr>
          <p:cNvPr descr="../figures_ch4_color/A_GPL_patter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09800" y="876300"/>
            <a:ext cx="47244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000"/>
            <a:ext cx="8229600" cy="700000"/>
          </a:xfrm>
        </p:spPr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۳: تخلخل A همچون سد حرارتی، دمای سطح خارجی را ۸ برابر کم می‌کند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حفره‌ها در سطح خارجی </a:t>
            </a:r>
            <a:r>
              <a:rPr b="1" lang="fa-IR" dirty="0">
                <a:latin typeface="Tahoma"/>
                <a:cs typeface="Tahoma"/>
              </a:rPr>
              <a:t>سد حرارتی</a:t>
            </a:r>
            <a:r>
              <a:rPr lang="fa-IR" dirty="0">
                <a:latin typeface="Tahoma"/>
                <a:cs typeface="Tahoma"/>
              </a:rPr>
              <a:t> می‌سازند؛ اما </a:t>
            </a:r>
            <a:r>
              <a:rPr b="1" lang="fa-IR" dirty="0">
                <a:latin typeface="Tahoma"/>
                <a:cs typeface="Tahoma"/>
              </a:rPr>
              <a:t>علامت</a:t>
            </a:r>
            <a:r>
              <a:rPr lang="fa-IR" dirty="0">
                <a:latin typeface="Tahoma"/>
                <a:cs typeface="Tahoma"/>
              </a:rPr>
              <a:t> تنش محیطی داخلی را وارون می‌کنند.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الگوی V بیشترین قلهٔ گذرا را دارد (</a:t>
            </a:r>
            <a:r>
              <a:rPr b="1" lang="fa-IR" dirty="0">
                <a:latin typeface="Tahoma"/>
                <a:cs typeface="Tahoma"/>
              </a:rPr>
              <a:t>۱٫۱۱</a:t>
            </a:r>
            <a:r>
              <a:rPr lang="fa-IR" dirty="0">
                <a:latin typeface="Tahoma"/>
                <a:cs typeface="Tahoma"/>
              </a:rPr>
              <a:t>).</a:t>
            </a:r>
          </a:p>
        </p:txBody>
      </p:sp>
      <p:pic>
        <p:nvPicPr>
          <p:cNvPr descr="../figures_ch4_color/B_porosity_patter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76500" y="876300"/>
            <a:ext cx="42037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000"/>
            <a:ext cx="8229600" cy="700000"/>
          </a:xfrm>
        </p:spPr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۴ ★: گرافن V + تخلخل A هم‌افزاست — تا ۲۶ برابر کاهش دما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rtl="1" algn="r"/>
                <a:r>
                  <a:rPr b="1" lang="fa-IR" dirty="0">
                    <a:latin typeface="Tahoma"/>
                    <a:cs typeface="Tahoma"/>
                  </a:rPr>
                  <a:t>هم‌افزا:</a:t>
                </a:r>
                <a:r>
                  <a:rPr lang="fa-IR" dirty="0">
                    <a:latin typeface="Tahoma"/>
                    <a:cs typeface="Tahoma"/>
                  </a:rPr>
                  <a:t> V-گرافن با A-تخلخل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  <m:r>
                      <m:t>0.034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؛ </a:t>
                </a:r>
                <a:r>
                  <a:rPr b="1" lang="fa-IR" dirty="0">
                    <a:latin typeface="Tahoma"/>
                    <a:cs typeface="Tahoma"/>
                  </a:rPr>
                  <a:t>خنثی‌کننده:</a:t>
                </a:r>
                <a:r>
                  <a:rPr lang="fa-IR" dirty="0">
                    <a:latin typeface="Tahoma"/>
                    <a:cs typeface="Tahoma"/>
                  </a:rPr>
                  <a:t> V-گرافن با V-تخلخل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  <m:r>
                      <m:t>0.692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  <a:p>
                <a:pPr lvl="0" rtl="1" algn="r"/>
                <a:r>
                  <a:rPr b="1" lang="fa-IR" dirty="0">
                    <a:latin typeface="Tahoma"/>
                    <a:cs typeface="Tahoma"/>
                  </a:rPr>
                  <a:t>هم‌راستایی یا تقابل دو الگو</a:t>
                </a:r>
                <a:r>
                  <a:rPr lang="fa-IR" dirty="0">
                    <a:latin typeface="Tahoma"/>
                    <a:cs typeface="Tahoma"/>
                  </a:rPr>
                  <a:t> تعیین‌کننده است، نه انتخاب یک الگوی «خوب».</a:t>
                </a:r>
              </a:p>
            </p:txBody>
          </p:sp>
        </mc:Choice>
      </mc:AlternateContent>
      <p:pic>
        <p:nvPicPr>
          <p:cNvPr descr="../figures_ch4_color/matrix25_T_xi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578100" y="876300"/>
            <a:ext cx="39878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000"/>
            <a:ext cx="8229600" cy="700000"/>
          </a:xfrm>
        </p:spPr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۵: آستانهٔ پرکولاسیون در کسر وزنی ≈ ۱٪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گذر از «عایق» به «رسانا»؛ بیشتر از آن، نفوذ حرارتی فقط </a:t>
            </a:r>
            <a:r>
              <a:rPr b="1" lang="fa-IR" dirty="0">
                <a:latin typeface="Tahoma"/>
                <a:cs typeface="Tahoma"/>
              </a:rPr>
              <a:t>هموار</a:t>
            </a:r>
            <a:r>
              <a:rPr lang="fa-IR" dirty="0">
                <a:latin typeface="Tahoma"/>
                <a:cs typeface="Tahoma"/>
              </a:rPr>
              <a:t> بهتر می‌شود اما </a:t>
            </a:r>
            <a:r>
              <a:rPr b="1" lang="fa-IR" dirty="0">
                <a:latin typeface="Tahoma"/>
                <a:cs typeface="Tahoma"/>
              </a:rPr>
              <a:t>تنش حرارتی دو برابر</a:t>
            </a:r>
            <a:r>
              <a:rPr lang="fa-IR" dirty="0">
                <a:latin typeface="Tahoma"/>
                <a:cs typeface="Tahoma"/>
              </a:rPr>
              <a:t> می‌شود (در ۸٪).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نسبت ابعادی پلاکت اثر </a:t>
            </a:r>
            <a:r>
              <a:rPr b="1" lang="fa-IR" dirty="0">
                <a:latin typeface="Tahoma"/>
                <a:cs typeface="Tahoma"/>
              </a:rPr>
              <a:t>درجهٔ دوم</a:t>
            </a:r>
            <a:r>
              <a:rPr lang="fa-IR" dirty="0">
                <a:latin typeface="Tahoma"/>
                <a:cs typeface="Tahoma"/>
              </a:rPr>
              <a:t> دارد (تنش &lt; ۲٪).</a:t>
            </a:r>
          </a:p>
        </p:txBody>
      </p:sp>
      <p:pic>
        <p:nvPicPr>
          <p:cNvPr descr="../figures_ch4_color/D_wt_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76500" y="876300"/>
            <a:ext cx="42037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000"/>
            <a:ext cx="8229600" cy="700000"/>
          </a:xfrm>
        </p:spPr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۶: در شوک گاوسی، فوریه دما را ۲٫۵ برابر کم‌برآورد می‌کند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مدل کلاسیک در شوک کوتاه‌مدت </a:t>
            </a:r>
            <a:r>
              <a:rPr b="1" lang="fa-IR" dirty="0">
                <a:latin typeface="Tahoma"/>
                <a:cs typeface="Tahoma"/>
              </a:rPr>
              <a:t>غیرمحافظه‌کارانه</a:t>
            </a:r>
            <a:r>
              <a:rPr lang="fa-IR" dirty="0">
                <a:latin typeface="Tahoma"/>
                <a:cs typeface="Tahoma"/>
              </a:rPr>
              <a:t> است.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حل ممزوج موج را حدود </a:t>
            </a:r>
            <a:r>
              <a:rPr b="1" lang="fa-IR" dirty="0">
                <a:latin typeface="Tahoma"/>
                <a:cs typeface="Tahoma"/>
              </a:rPr>
              <a:t>۱٪</a:t>
            </a:r>
            <a:r>
              <a:rPr lang="fa-IR" dirty="0">
                <a:latin typeface="Tahoma"/>
                <a:cs typeface="Tahoma"/>
              </a:rPr>
              <a:t> میرا می‌کند (میرایی ترموالاستیک).</a:t>
            </a:r>
          </a:p>
        </p:txBody>
      </p:sp>
      <p:pic>
        <p:nvPicPr>
          <p:cNvPr descr="../figures_ch4_color/M_gauss_shock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476500" y="876300"/>
            <a:ext cx="42037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000"/>
            <a:ext cx="8229600" cy="700000"/>
          </a:xfrm>
        </p:spPr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۷: مقایسهٔ چهار تئوری ترموالاستیسیته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فوریه / لرد-شولمن / DPL / گرین-نگدی III؛ تباهیدگی DPL در </a:t>
                </a:r>
                <a14:m>
                  <m:oMath xmlns:m="http://schemas.openxmlformats.org/officeDocument/2006/math">
                    <m:sSub>
                      <m:e>
                        <m:r>
                          <m:t>τ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τ</m:t>
                        </m:r>
                      </m:e>
                      <m:sub>
                        <m:r>
                          <m:t>q</m:t>
                        </m:r>
                      </m:sub>
                    </m:sSub>
                  </m:oMath>
                </a14:m>
                <a:r>
                  <a:rPr lang="fa-IR" dirty="0">
                    <a:latin typeface="Tahoma"/>
                    <a:cs typeface="Tahoma"/>
                  </a:rPr>
                  <a:t>؛ فراجهش ماندگار GN-III.</a:t>
                </a:r>
              </a:p>
            </p:txBody>
          </p:sp>
        </mc:Choice>
      </mc:AlternateContent>
      <p:pic>
        <p:nvPicPr>
          <p:cNvPr descr="../figures_ch4_color/T3_theor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76500" y="876300"/>
            <a:ext cx="42037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نوآوری‌های پژوهش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 rtl="1" algn="r">
              <a:buAutoNum type="arabicPeriod"/>
            </a:pPr>
            <a:r>
              <a:rPr lang="fa-IR" dirty="0">
                <a:latin typeface="Tahoma"/>
                <a:cs typeface="Tahoma"/>
              </a:rPr>
              <a:t>حل </a:t>
            </a:r>
            <a:r>
              <a:rPr b="1" lang="fa-IR" dirty="0">
                <a:latin typeface="Tahoma"/>
                <a:cs typeface="Tahoma"/>
              </a:rPr>
              <a:t>کاملاً ممزوج</a:t>
            </a:r>
            <a:r>
              <a:rPr lang="fa-IR" dirty="0">
                <a:latin typeface="Tahoma"/>
                <a:cs typeface="Tahoma"/>
              </a:rPr>
              <a:t> لرد-شولمن برای استوانهٔ چندلایهٔ متخلخلِ گرافنی با DQM لایه‌ایِ دوبعدی.</a:t>
            </a:r>
          </a:p>
          <a:p>
            <a:pPr lvl="0" indent="-342900" marL="342900" rtl="1" algn="r">
              <a:buAutoNum type="arabicPeriod"/>
            </a:pPr>
            <a:r>
              <a:rPr b="1" lang="fa-IR" dirty="0">
                <a:latin typeface="Tahoma"/>
                <a:cs typeface="Tahoma"/>
              </a:rPr>
              <a:t>برهم‌کنش هم‌افزای V-گرافن و A-تخلخل</a:t>
            </a:r>
            <a:r>
              <a:rPr lang="fa-IR" dirty="0">
                <a:latin typeface="Tahoma"/>
                <a:cs typeface="Tahoma"/>
              </a:rPr>
              <a:t> و </a:t>
            </a:r>
            <a:r>
              <a:rPr b="1" lang="fa-IR" dirty="0">
                <a:latin typeface="Tahoma"/>
                <a:cs typeface="Tahoma"/>
              </a:rPr>
              <a:t>ماتریس کامل ۵×۵</a:t>
            </a:r>
            <a:r>
              <a:rPr lang="fa-IR" dirty="0">
                <a:latin typeface="Tahoma"/>
                <a:cs typeface="Tahoma"/>
              </a:rPr>
              <a:t> که در مراجع پیشین همتا ندارد.</a:t>
            </a:r>
          </a:p>
          <a:p>
            <a:pPr lvl="0" indent="-342900" marL="342900" rtl="1" algn="r">
              <a:buAutoNum type="arabicPeriod"/>
            </a:pPr>
            <a:r>
              <a:rPr lang="fa-IR" dirty="0">
                <a:latin typeface="Tahoma"/>
                <a:cs typeface="Tahoma"/>
              </a:rPr>
              <a:t>رفتار </a:t>
            </a:r>
            <a:r>
              <a:rPr b="1" lang="fa-IR" dirty="0">
                <a:latin typeface="Tahoma"/>
                <a:cs typeface="Tahoma"/>
              </a:rPr>
              <a:t>«قله-قعر»</a:t>
            </a:r>
            <a:r>
              <a:rPr lang="fa-IR" dirty="0">
                <a:latin typeface="Tahoma"/>
                <a:cs typeface="Tahoma"/>
              </a:rPr>
              <a:t> و آینه‌ایِ الگوها و پیوند آن با سرشت موجی هدایت.</a:t>
            </a:r>
          </a:p>
          <a:p>
            <a:pPr lvl="0" indent="-342900" marL="342900" rtl="1" algn="r">
              <a:buAutoNum type="arabicPeriod"/>
            </a:pPr>
            <a:r>
              <a:rPr lang="fa-IR" dirty="0">
                <a:latin typeface="Tahoma"/>
                <a:cs typeface="Tahoma"/>
              </a:rPr>
              <a:t>سه مطالعهٔ گسترشی: شش انتگرال‌گیر زمانی، چهار روش مکانی، چهار تئوری.</a:t>
            </a:r>
          </a:p>
          <a:p>
            <a:pPr lvl="0" indent="-342900" marL="342900" rtl="1" algn="r">
              <a:buAutoNum type="arabicPeriod"/>
            </a:pPr>
            <a:r>
              <a:rPr lang="fa-IR" dirty="0">
                <a:latin typeface="Tahoma"/>
                <a:cs typeface="Tahoma"/>
              </a:rPr>
              <a:t>صحت‌سنجی </a:t>
            </a:r>
            <a:r>
              <a:rPr b="1" lang="fa-IR" dirty="0">
                <a:latin typeface="Tahoma"/>
                <a:cs typeface="Tahoma"/>
              </a:rPr>
              <a:t>کمّی</a:t>
            </a:r>
            <a:r>
              <a:rPr lang="fa-IR" dirty="0">
                <a:latin typeface="Tahoma"/>
                <a:cs typeface="Tahoma"/>
              </a:rPr>
              <a:t> موج صوت دوم در برابر حل دقیق تحلیلی.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نتیجه‌گیری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برای </a:t>
            </a:r>
            <a:r>
              <a:rPr b="1" lang="fa-IR" dirty="0">
                <a:latin typeface="Tahoma"/>
                <a:cs typeface="Tahoma"/>
              </a:rPr>
              <a:t>شوک حرارتی گذرا</a:t>
            </a:r>
            <a:r>
              <a:rPr lang="fa-IR" dirty="0">
                <a:latin typeface="Tahoma"/>
                <a:cs typeface="Tahoma"/>
              </a:rPr>
              <a:t>، لرد-شولمن </a:t>
            </a:r>
            <a:r>
              <a:rPr b="1" lang="fa-IR" dirty="0">
                <a:latin typeface="Tahoma"/>
                <a:cs typeface="Tahoma"/>
              </a:rPr>
              <a:t>ضروری</a:t>
            </a:r>
            <a:r>
              <a:rPr lang="fa-IR" dirty="0">
                <a:latin typeface="Tahoma"/>
                <a:cs typeface="Tahoma"/>
              </a:rPr>
              <a:t> است؛ فوریه دما و تنش گذرا را به‌شدت کم‌برآورد می‌کند.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از دیدگاه طراحی، </a:t>
            </a:r>
            <a:r>
              <a:rPr b="1" lang="fa-IR" dirty="0">
                <a:latin typeface="Tahoma"/>
                <a:cs typeface="Tahoma"/>
              </a:rPr>
              <a:t>هم‌راستاسازی گرافن و تخلخل (V-A)</a:t>
            </a:r>
            <a:r>
              <a:rPr lang="fa-IR" dirty="0">
                <a:latin typeface="Tahoma"/>
                <a:cs typeface="Tahoma"/>
              </a:rPr>
              <a:t> بهترین رفتار حرارتی را با کمترین جریمهٔ تنش می‌دهد.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انتخاب الگو باید </a:t>
            </a:r>
            <a:r>
              <a:rPr b="1" lang="fa-IR" dirty="0">
                <a:latin typeface="Tahoma"/>
                <a:cs typeface="Tahoma"/>
              </a:rPr>
              <a:t>هم‌زمان</a:t>
            </a:r>
            <a:r>
              <a:rPr lang="fa-IR" dirty="0">
                <a:latin typeface="Tahoma"/>
                <a:cs typeface="Tahoma"/>
              </a:rPr>
              <a:t> از منظر دما و تنش سنجیده شود.</a:t>
            </a:r>
          </a:p>
          <a:p>
            <a:pPr lvl="0" rtl="1" algn="r"/>
            <a:r>
              <a:rPr b="1" lang="fa-IR" dirty="0">
                <a:latin typeface="Tahoma"/>
                <a:cs typeface="Tahoma"/>
              </a:rPr>
              <a:t>DQM لایه‌ای + نیومارک</a:t>
            </a:r>
            <a:r>
              <a:rPr lang="fa-IR" dirty="0">
                <a:latin typeface="Tahoma"/>
                <a:cs typeface="Tahoma"/>
              </a:rPr>
              <a:t> ابزاری کارآمد و صحت‌سنجی‌شده است.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محدودیت‌ها و پیشنهادها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b="1" lang="fa-IR" dirty="0">
                <a:latin typeface="Tahoma"/>
                <a:cs typeface="Tahoma"/>
              </a:rPr>
              <a:t>محدودیت‌ها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خواص مادی </a:t>
            </a:r>
            <a:r>
              <a:rPr b="1" lang="fa-IR" dirty="0">
                <a:latin typeface="Tahoma"/>
                <a:cs typeface="Tahoma"/>
              </a:rPr>
              <a:t>مستقل از دما</a:t>
            </a:r>
            <a:r>
              <a:rPr lang="fa-IR" dirty="0">
                <a:latin typeface="Tahoma"/>
                <a:cs typeface="Tahoma"/>
              </a:rPr>
              <a:t>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مدل </a:t>
            </a:r>
            <a:r>
              <a:rPr b="1" lang="fa-IR" dirty="0">
                <a:latin typeface="Tahoma"/>
                <a:cs typeface="Tahoma"/>
              </a:rPr>
              <a:t>الاستیک خطی</a:t>
            </a:r>
            <a:r>
              <a:rPr lang="fa-IR" dirty="0">
                <a:latin typeface="Tahoma"/>
                <a:cs typeface="Tahoma"/>
              </a:rPr>
              <a:t>، بدون معیار آسیب/شکست.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پیوند </a:t>
            </a:r>
            <a:r>
              <a:rPr b="1" lang="fa-IR" dirty="0">
                <a:latin typeface="Tahoma"/>
                <a:cs typeface="Tahoma"/>
              </a:rPr>
              <a:t>کامل</a:t>
            </a:r>
            <a:r>
              <a:rPr lang="fa-IR" dirty="0">
                <a:latin typeface="Tahoma"/>
                <a:cs typeface="Tahoma"/>
              </a:rPr>
              <a:t> بین‌لایه‌ای (بدون مقاومت حرارتی فصل‌مشترک).</a:t>
            </a:r>
          </a:p>
          <a:p>
            <a:pPr lvl="0" indent="0" marL="0" rtl="1" algn="r">
              <a:buNone/>
            </a:pPr>
            <a:r>
              <a:rPr b="1" lang="fa-IR" dirty="0">
                <a:latin typeface="Tahoma"/>
                <a:cs typeface="Tahoma"/>
              </a:rPr>
              <a:t>پیشنهادها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وابستگی خواص به دما و رفتار </a:t>
            </a:r>
            <a:r>
              <a:rPr b="1" lang="fa-IR" dirty="0">
                <a:latin typeface="Tahoma"/>
                <a:cs typeface="Tahoma"/>
              </a:rPr>
              <a:t>غیرخطی/آسیب</a:t>
            </a:r>
            <a:r>
              <a:rPr lang="fa-IR" dirty="0">
                <a:latin typeface="Tahoma"/>
                <a:cs typeface="Tahoma"/>
              </a:rPr>
              <a:t>؛ </a:t>
            </a:r>
            <a:r>
              <a:rPr b="1" lang="fa-IR" dirty="0">
                <a:latin typeface="Tahoma"/>
                <a:cs typeface="Tahoma"/>
              </a:rPr>
              <a:t>مقاومت حرارتی فصل‌مشترک</a:t>
            </a:r>
            <a:r>
              <a:rPr lang="fa-IR" dirty="0">
                <a:latin typeface="Tahoma"/>
                <a:cs typeface="Tahoma"/>
              </a:rPr>
              <a:t>.</a:t>
            </a:r>
          </a:p>
          <a:p>
            <a:pPr lvl="0" rtl="1" algn="r"/>
            <a:r>
              <a:rPr b="1" lang="fa-IR" dirty="0">
                <a:latin typeface="Tahoma"/>
                <a:cs typeface="Tahoma"/>
              </a:rPr>
              <a:t>صحت‌سنجی تجربی</a:t>
            </a:r>
            <a:r>
              <a:rPr lang="fa-IR" dirty="0">
                <a:latin typeface="Tahoma"/>
                <a:cs typeface="Tahoma"/>
              </a:rPr>
              <a:t> و نمودار طراحیِ مهندسی بر پایهٔ یافتهٔ V-A.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با تشکر از توجه شما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پرسش و پاسخ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اسلایدهای پشتیبان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000"/>
            <a:ext cx="8229600" cy="700000"/>
          </a:xfrm>
        </p:spPr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پشتیبان ۱ — آزمون ۱: حد استاتیکی (شکل ۴-۵)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۴۵ نقطهٔ شعاعی؛ بیشینهٔ اختلاف مطلق </a:t>
                </a:r>
                <a14:m>
                  <m:oMath xmlns:m="http://schemas.openxmlformats.org/officeDocument/2006/math">
                    <m:r>
                      <m:t>2.1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14</m:t>
                        </m:r>
                      </m:sup>
                    </m:sSup>
                  </m:oMath>
                </a14:m>
                <a:r>
                  <a:rPr lang="fa-IR" dirty="0">
                    <a:latin typeface="Tahoma"/>
                    <a:cs typeface="Tahoma"/>
                  </a:rPr>
                  <a:t> m و نسبی </a:t>
                </a:r>
                <a14:m>
                  <m:oMath xmlns:m="http://schemas.openxmlformats.org/officeDocument/2006/math">
                    <m:r>
                      <m:t>2.2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11</m:t>
                        </m:r>
                      </m:sup>
                    </m:sSup>
                  </m:oMath>
                </a14:m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</p:txBody>
          </p:sp>
        </mc:Choice>
      </mc:AlternateContent>
      <p:pic>
        <p:nvPicPr>
          <p:cNvPr descr="../figures_validation/verif_test1_static_R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09800" y="876300"/>
            <a:ext cx="47244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000"/>
            <a:ext cx="8229600" cy="700000"/>
          </a:xfrm>
        </p:spPr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پشتیبان ۲ — آزمون ۴: انتگرال‌گیر زمانی (شکل ۴-۸)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خطای بیشینه: نیومارک </a:t>
            </a:r>
            <a:r>
              <a:rPr b="1" lang="fa-IR" dirty="0">
                <a:latin typeface="Tahoma"/>
                <a:cs typeface="Tahoma"/>
              </a:rPr>
              <a:t>۰٫۰۰۳۱۹ K</a:t>
            </a:r>
            <a:r>
              <a:rPr lang="fa-IR" dirty="0">
                <a:latin typeface="Tahoma"/>
                <a:cs typeface="Tahoma"/>
              </a:rPr>
              <a:t>، </a:t>
            </a:r>
            <a:r>
              <a:rPr lang="fa-IR" dirty="0">
                <a:latin typeface="Tahoma"/>
                <a:cs typeface="Tahoma"/>
              </a:rPr>
              <a:t>ode15s</a:t>
            </a:r>
            <a:r>
              <a:rPr lang="fa-IR" dirty="0">
                <a:latin typeface="Tahoma"/>
                <a:cs typeface="Tahoma"/>
              </a:rPr>
              <a:t/>
            </a:r>
            <a:r>
              <a:rPr b="1" lang="fa-IR" dirty="0">
                <a:latin typeface="Tahoma"/>
                <a:cs typeface="Tahoma"/>
              </a:rPr>
              <a:t>۰٫۰۰۰۲۶ K</a:t>
            </a:r>
            <a:r>
              <a:rPr lang="fa-IR" dirty="0">
                <a:latin typeface="Tahoma"/>
                <a:cs typeface="Tahoma"/>
              </a:rPr>
              <a:t>؛ هزینهٔ نیومارک حدود یک‌دهم.</a:t>
            </a:r>
          </a:p>
        </p:txBody>
      </p:sp>
      <p:pic>
        <p:nvPicPr>
          <p:cNvPr descr="../figures_validation/verif_test4_integrator_R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09800" y="876300"/>
            <a:ext cx="47244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1B2A41"/>
      </a:dk1>
      <a:lt1>
        <a:sysClr val="window" lastClr="FFFFFF"/>
      </a:lt1>
      <a:dk2>
        <a:srgbClr val="1F497D"/>
      </a:dk2>
      <a:lt2>
        <a:srgbClr val="EEECE1"/>
      </a:lt2>
      <a:accent1>
        <a:srgbClr val="E4572E"/>
      </a:accent1>
      <a:accent2>
        <a:srgbClr val="17A398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تحلیل ترموالاستیک استوانه‌های متخلخلِ تقویت‌شده با پلاکت‌های گرافنی تحت بارِ ترمو-مکانیکی با استفاده از تئوری لرد-شولمن</dc:title>
  <dc:creator>نگارنده: ‹نام دانشجو› | استاد راهنما: ‹نام استاد راهنما›</dc:creator>
  <cp:keywords/>
  <dcterms:created xsi:type="dcterms:W3CDTF">2026-10-11T21:44:51Z</dcterms:created>
  <dcterms:modified xsi:type="dcterms:W3CDTF">2026-10-11T21:44:51Z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‹نام دانشگاه و دانشکده› — ‹تاریخ دفاع›</vt:lpwstr>
  </property>
</Properties>
</file>